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7BBD2A3-FD15-F1A3-C570-BC78B3F00B5F}">
          <p14:sldIdLst>
            <p14:sldId id="256"/>
            <p14:sldId id="257"/>
            <p14:sldId id="258"/>
            <p14:sldId id="259"/>
          </p14:sldIdLst>
        </p14:section>
        <p14:section name="Project Phases" id="{199C2846-1EB6-9F3B-F01B-537D79B2443F}">
          <p14:sldIdLst>
            <p14:sldId id="260"/>
            <p14:sldId id="261"/>
            <p14:sldId id="262"/>
            <p14:sldId id="263"/>
          </p14:sldIdLst>
        </p14:section>
        <p14:section name="Conclusion" id="{25CFB82D-DD97-B4D6-AE76-422766D5E566}">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7252A"/>
                </a:solidFill>
                <a:latin typeface="+mn-lt"/>
              </a:defRPr>
            </a:pPr>
            <a:r>
              <a:rPr lang="en-US" sz="1600" b="0" i="0" u="none" strike="noStrike">
                <a:solidFill>
                  <a:srgbClr val="17252A"/>
                </a:solidFill>
                <a:latin typeface="+mn-lt"/>
              </a:rPr>
              <a:t>Revenue by product category ($M)</a:t>
            </a:r>
          </a:p>
        </c:rich>
      </c:tx>
      <c:overlay val="0"/>
    </c:title>
    <c:autoTitleDeleted val="0"/>
    <c:plotArea>
      <c:layout/>
      <c:barChart>
        <c:barDir val="bar"/>
        <c:grouping val="clustered"/>
        <c:varyColors val="0"/>
        <c:ser>
          <c:idx val="0"/>
          <c:order val="0"/>
          <c:tx>
            <c:strRef>
              <c:f>Sheet1!$B$1</c:f>
              <c:strCache>
                <c:ptCount val="1"/>
                <c:pt idx="0">
                  <c:v>Revenue ($M)</c:v>
                </c:pt>
              </c:strCache>
            </c:strRef>
          </c:tx>
          <c:spPr>
            <a:solidFill>
              <a:srgbClr val="F26B21"/>
            </a:solidFill>
            <a:effectLst/>
          </c:spPr>
          <c:invertIfNegative val="0"/>
          <c:dPt>
            <c:idx val="0"/>
            <c:invertIfNegative val="0"/>
            <c:bubble3D val="0"/>
            <c:extLst>
              <c:ext xmlns:c16="http://schemas.microsoft.com/office/drawing/2014/chart" uri="{C3380CC4-5D6E-409C-BE32-E72D297353CC}">
                <c16:uniqueId val="{00000001-064E-4E65-8F35-F51284861C64}"/>
              </c:ext>
            </c:extLst>
          </c:dPt>
          <c:dPt>
            <c:idx val="1"/>
            <c:invertIfNegative val="0"/>
            <c:bubble3D val="0"/>
            <c:spPr>
              <a:solidFill>
                <a:srgbClr val="1F7A8C"/>
              </a:solidFill>
              <a:effectLst/>
            </c:spPr>
            <c:extLst>
              <c:ext xmlns:c16="http://schemas.microsoft.com/office/drawing/2014/chart" uri="{C3380CC4-5D6E-409C-BE32-E72D297353CC}">
                <c16:uniqueId val="{00000003-064E-4E65-8F35-F51284861C64}"/>
              </c:ext>
            </c:extLst>
          </c:dPt>
          <c:dPt>
            <c:idx val="2"/>
            <c:invertIfNegative val="0"/>
            <c:bubble3D val="0"/>
            <c:spPr>
              <a:solidFill>
                <a:srgbClr val="1F7A8C"/>
              </a:solidFill>
              <a:effectLst/>
            </c:spPr>
            <c:extLst>
              <c:ext xmlns:c16="http://schemas.microsoft.com/office/drawing/2014/chart" uri="{C3380CC4-5D6E-409C-BE32-E72D297353CC}">
                <c16:uniqueId val="{00000005-064E-4E65-8F35-F51284861C64}"/>
              </c:ext>
            </c:extLst>
          </c:dPt>
          <c:dPt>
            <c:idx val="3"/>
            <c:invertIfNegative val="0"/>
            <c:bubble3D val="0"/>
            <c:spPr>
              <a:solidFill>
                <a:srgbClr val="1F7A8C"/>
              </a:solidFill>
              <a:effectLst/>
            </c:spPr>
            <c:extLst>
              <c:ext xmlns:c16="http://schemas.microsoft.com/office/drawing/2014/chart" uri="{C3380CC4-5D6E-409C-BE32-E72D297353CC}">
                <c16:uniqueId val="{00000007-064E-4E65-8F35-F51284861C64}"/>
              </c:ext>
            </c:extLst>
          </c:dPt>
          <c:dPt>
            <c:idx val="4"/>
            <c:invertIfNegative val="0"/>
            <c:bubble3D val="0"/>
            <c:spPr>
              <a:solidFill>
                <a:srgbClr val="1F7A8C"/>
              </a:solidFill>
              <a:effectLst/>
            </c:spPr>
            <c:extLst>
              <c:ext xmlns:c16="http://schemas.microsoft.com/office/drawing/2014/chart" uri="{C3380CC4-5D6E-409C-BE32-E72D297353CC}">
                <c16:uniqueId val="{00000009-064E-4E65-8F35-F51284861C64}"/>
              </c:ext>
            </c:extLst>
          </c:dPt>
          <c:dPt>
            <c:idx val="5"/>
            <c:invertIfNegative val="0"/>
            <c:bubble3D val="0"/>
            <c:spPr>
              <a:solidFill>
                <a:srgbClr val="1F7A8C"/>
              </a:solidFill>
              <a:effectLst/>
            </c:spPr>
            <c:extLst>
              <c:ext xmlns:c16="http://schemas.microsoft.com/office/drawing/2014/chart" uri="{C3380CC4-5D6E-409C-BE32-E72D297353CC}">
                <c16:uniqueId val="{0000000B-064E-4E65-8F35-F51284861C64}"/>
              </c:ext>
            </c:extLst>
          </c:dPt>
          <c:dPt>
            <c:idx val="6"/>
            <c:invertIfNegative val="0"/>
            <c:bubble3D val="0"/>
            <c:spPr>
              <a:solidFill>
                <a:srgbClr val="1F7A8C"/>
              </a:solidFill>
              <a:effectLst/>
            </c:spPr>
            <c:extLst>
              <c:ext xmlns:c16="http://schemas.microsoft.com/office/drawing/2014/chart" uri="{C3380CC4-5D6E-409C-BE32-E72D297353CC}">
                <c16:uniqueId val="{0000000D-064E-4E65-8F35-F51284861C64}"/>
              </c:ext>
            </c:extLst>
          </c:dPt>
          <c:dLbls>
            <c:numFmt formatCode="\$0.00&quot;M&quot;" sourceLinked="0"/>
            <c:spPr>
              <a:noFill/>
              <a:ln>
                <a:noFill/>
              </a:ln>
              <a:effectLst/>
            </c:spPr>
            <c:txPr>
              <a:bodyPr/>
              <a:lstStyle/>
              <a:p>
                <a:pPr>
                  <a:defRPr sz="1200" b="0" i="0" u="none" strike="noStrike">
                    <a:solidFill>
                      <a:srgbClr val="1725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Mountain</c:v>
                </c:pt>
                <c:pt idx="1">
                  <c:v>Road</c:v>
                </c:pt>
                <c:pt idx="2">
                  <c:v>Cruisers</c:v>
                </c:pt>
                <c:pt idx="3">
                  <c:v>Electric</c:v>
                </c:pt>
                <c:pt idx="4">
                  <c:v>Cyclocross</c:v>
                </c:pt>
                <c:pt idx="5">
                  <c:v>Comfort</c:v>
                </c:pt>
                <c:pt idx="6">
                  <c:v>Children</c:v>
                </c:pt>
              </c:strCache>
            </c:strRef>
          </c:cat>
          <c:val>
            <c:numRef>
              <c:f>Sheet1!$B$2:$B$8</c:f>
              <c:numCache>
                <c:formatCode>General</c:formatCode>
                <c:ptCount val="7"/>
                <c:pt idx="0">
                  <c:v>3.03</c:v>
                </c:pt>
                <c:pt idx="1">
                  <c:v>1.85</c:v>
                </c:pt>
                <c:pt idx="2">
                  <c:v>1.1100000000000001</c:v>
                </c:pt>
                <c:pt idx="3">
                  <c:v>1.02</c:v>
                </c:pt>
                <c:pt idx="4">
                  <c:v>0.8</c:v>
                </c:pt>
                <c:pt idx="5">
                  <c:v>0.44</c:v>
                </c:pt>
                <c:pt idx="6">
                  <c:v>0.33</c:v>
                </c:pt>
              </c:numCache>
            </c:numRef>
          </c:val>
          <c:extLst>
            <c:ext xmlns:c16="http://schemas.microsoft.com/office/drawing/2014/chart" uri="{C3380CC4-5D6E-409C-BE32-E72D297353CC}">
              <c16:uniqueId val="{0000000E-064E-4E65-8F35-F51284861C64}"/>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52A"/>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7252A"/>
                </a:solidFill>
                <a:latin typeface="+mn-lt"/>
              </a:defRPr>
            </a:pPr>
            <a:r>
              <a:rPr lang="en-US" sz="1600" b="0" i="0" u="none" strike="noStrike">
                <a:solidFill>
                  <a:srgbClr val="17252A"/>
                </a:solidFill>
                <a:latin typeface="+mn-lt"/>
              </a:rPr>
              <a:t>Total sales by store ($M)</a:t>
            </a:r>
          </a:p>
        </c:rich>
      </c:tx>
      <c:overlay val="0"/>
    </c:title>
    <c:autoTitleDeleted val="0"/>
    <c:plotArea>
      <c:layout/>
      <c:barChart>
        <c:barDir val="col"/>
        <c:grouping val="clustered"/>
        <c:varyColors val="0"/>
        <c:ser>
          <c:idx val="0"/>
          <c:order val="0"/>
          <c:tx>
            <c:strRef>
              <c:f>Sheet1!$B$1</c:f>
              <c:strCache>
                <c:ptCount val="1"/>
                <c:pt idx="0">
                  <c:v>Sales ($M)</c:v>
                </c:pt>
              </c:strCache>
            </c:strRef>
          </c:tx>
          <c:spPr>
            <a:solidFill>
              <a:srgbClr val="F26B21"/>
            </a:solidFill>
            <a:effectLst/>
          </c:spPr>
          <c:invertIfNegative val="0"/>
          <c:dPt>
            <c:idx val="0"/>
            <c:invertIfNegative val="0"/>
            <c:bubble3D val="0"/>
            <c:extLst>
              <c:ext xmlns:c16="http://schemas.microsoft.com/office/drawing/2014/chart" uri="{C3380CC4-5D6E-409C-BE32-E72D297353CC}">
                <c16:uniqueId val="{00000001-EA3A-4C7D-A293-77EA477FAF73}"/>
              </c:ext>
            </c:extLst>
          </c:dPt>
          <c:dPt>
            <c:idx val="1"/>
            <c:invertIfNegative val="0"/>
            <c:bubble3D val="0"/>
            <c:spPr>
              <a:solidFill>
                <a:srgbClr val="1F7A8C"/>
              </a:solidFill>
              <a:effectLst/>
            </c:spPr>
            <c:extLst>
              <c:ext xmlns:c16="http://schemas.microsoft.com/office/drawing/2014/chart" uri="{C3380CC4-5D6E-409C-BE32-E72D297353CC}">
                <c16:uniqueId val="{00000003-EA3A-4C7D-A293-77EA477FAF73}"/>
              </c:ext>
            </c:extLst>
          </c:dPt>
          <c:dPt>
            <c:idx val="2"/>
            <c:invertIfNegative val="0"/>
            <c:bubble3D val="0"/>
            <c:spPr>
              <a:solidFill>
                <a:srgbClr val="1F7A8C"/>
              </a:solidFill>
              <a:effectLst/>
            </c:spPr>
            <c:extLst>
              <c:ext xmlns:c16="http://schemas.microsoft.com/office/drawing/2014/chart" uri="{C3380CC4-5D6E-409C-BE32-E72D297353CC}">
                <c16:uniqueId val="{00000005-EA3A-4C7D-A293-77EA477FAF73}"/>
              </c:ext>
            </c:extLst>
          </c:dPt>
          <c:dLbls>
            <c:numFmt formatCode="\$0.00&quot;M&quot;" sourceLinked="0"/>
            <c:spPr>
              <a:noFill/>
              <a:ln>
                <a:noFill/>
              </a:ln>
              <a:effectLst/>
            </c:spPr>
            <c:txPr>
              <a:bodyPr/>
              <a:lstStyle/>
              <a:p>
                <a:pPr>
                  <a:defRPr sz="1200" b="0" i="0" u="none" strike="noStrike">
                    <a:solidFill>
                      <a:srgbClr val="1725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Baldwin Bikes (NY)</c:v>
                </c:pt>
                <c:pt idx="1">
                  <c:v>Santa Cruz Bikes (CA)</c:v>
                </c:pt>
                <c:pt idx="2">
                  <c:v>Rowlett Bikes (TX)</c:v>
                </c:pt>
              </c:strCache>
            </c:strRef>
          </c:cat>
          <c:val>
            <c:numRef>
              <c:f>Sheet1!$B$2:$B$4</c:f>
              <c:numCache>
                <c:formatCode>General</c:formatCode>
                <c:ptCount val="3"/>
                <c:pt idx="0">
                  <c:v>5.83</c:v>
                </c:pt>
                <c:pt idx="1">
                  <c:v>1.79</c:v>
                </c:pt>
                <c:pt idx="2">
                  <c:v>0.96</c:v>
                </c:pt>
              </c:numCache>
            </c:numRef>
          </c:val>
          <c:extLst>
            <c:ext xmlns:c16="http://schemas.microsoft.com/office/drawing/2014/chart" uri="{C3380CC4-5D6E-409C-BE32-E72D297353CC}">
              <c16:uniqueId val="{00000006-EA3A-4C7D-A293-77EA477FAF7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52A"/>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7252A"/>
                </a:solidFill>
                <a:latin typeface="+mn-lt"/>
              </a:defRPr>
            </a:pPr>
            <a:r>
              <a:rPr lang="en-IN" sz="1600" b="0" i="0" u="none" strike="noStrike">
                <a:solidFill>
                  <a:srgbClr val="17252A"/>
                </a:solidFill>
                <a:latin typeface="+mn-lt"/>
              </a:rPr>
              <a:t>Customers per segment</a:t>
            </a:r>
          </a:p>
        </c:rich>
      </c:tx>
      <c:overlay val="0"/>
    </c:title>
    <c:autoTitleDeleted val="0"/>
    <c:plotArea>
      <c:layout/>
      <c:barChart>
        <c:barDir val="col"/>
        <c:grouping val="clustered"/>
        <c:varyColors val="0"/>
        <c:ser>
          <c:idx val="0"/>
          <c:order val="0"/>
          <c:tx>
            <c:strRef>
              <c:f>Sheet1!$B$1</c:f>
              <c:strCache>
                <c:ptCount val="1"/>
                <c:pt idx="0">
                  <c:v>Customers</c:v>
                </c:pt>
              </c:strCache>
            </c:strRef>
          </c:tx>
          <c:spPr>
            <a:solidFill>
              <a:srgbClr val="1F7A8C"/>
            </a:solidFill>
            <a:effectLst/>
          </c:spPr>
          <c:invertIfNegative val="0"/>
          <c:dPt>
            <c:idx val="0"/>
            <c:invertIfNegative val="0"/>
            <c:bubble3D val="0"/>
            <c:extLst>
              <c:ext xmlns:c16="http://schemas.microsoft.com/office/drawing/2014/chart" uri="{C3380CC4-5D6E-409C-BE32-E72D297353CC}">
                <c16:uniqueId val="{00000001-4AB4-468C-82B6-A56C546AF15B}"/>
              </c:ext>
            </c:extLst>
          </c:dPt>
          <c:dPt>
            <c:idx val="1"/>
            <c:invertIfNegative val="0"/>
            <c:bubble3D val="0"/>
            <c:spPr>
              <a:solidFill>
                <a:srgbClr val="F2B134"/>
              </a:solidFill>
              <a:effectLst/>
            </c:spPr>
            <c:extLst>
              <c:ext xmlns:c16="http://schemas.microsoft.com/office/drawing/2014/chart" uri="{C3380CC4-5D6E-409C-BE32-E72D297353CC}">
                <c16:uniqueId val="{00000003-4AB4-468C-82B6-A56C546AF15B}"/>
              </c:ext>
            </c:extLst>
          </c:dPt>
          <c:dPt>
            <c:idx val="2"/>
            <c:invertIfNegative val="0"/>
            <c:bubble3D val="0"/>
            <c:spPr>
              <a:solidFill>
                <a:srgbClr val="F26B21"/>
              </a:solidFill>
              <a:effectLst/>
            </c:spPr>
            <c:extLst>
              <c:ext xmlns:c16="http://schemas.microsoft.com/office/drawing/2014/chart" uri="{C3380CC4-5D6E-409C-BE32-E72D297353CC}">
                <c16:uniqueId val="{00000005-4AB4-468C-82B6-A56C546AF15B}"/>
              </c:ext>
            </c:extLst>
          </c:dPt>
          <c:dLbls>
            <c:numFmt formatCode="#,##0" sourceLinked="0"/>
            <c:spPr>
              <a:noFill/>
              <a:ln>
                <a:noFill/>
              </a:ln>
              <a:effectLst/>
            </c:spPr>
            <c:txPr>
              <a:bodyPr/>
              <a:lstStyle/>
              <a:p>
                <a:pPr>
                  <a:defRPr sz="1200" b="0" i="0" u="none" strike="noStrike">
                    <a:solidFill>
                      <a:srgbClr val="1725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1407</c:v>
                </c:pt>
                <c:pt idx="1">
                  <c:v>31</c:v>
                </c:pt>
                <c:pt idx="2">
                  <c:v>7</c:v>
                </c:pt>
              </c:numCache>
            </c:numRef>
          </c:val>
          <c:extLst>
            <c:ext xmlns:c16="http://schemas.microsoft.com/office/drawing/2014/chart" uri="{C3380CC4-5D6E-409C-BE32-E72D297353CC}">
              <c16:uniqueId val="{00000006-4AB4-468C-82B6-A56C546AF15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52A"/>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7252A"/>
                </a:solidFill>
                <a:latin typeface="+mn-lt"/>
              </a:defRPr>
            </a:pPr>
            <a:r>
              <a:rPr lang="en-IN" sz="1600" b="0" i="0" u="none" strike="noStrike">
                <a:solidFill>
                  <a:srgbClr val="17252A"/>
                </a:solidFill>
                <a:latin typeface="+mn-lt"/>
              </a:rPr>
              <a:t>Revenue by year ($M)</a:t>
            </a:r>
          </a:p>
        </c:rich>
      </c:tx>
      <c:overlay val="0"/>
    </c:title>
    <c:autoTitleDeleted val="0"/>
    <c:plotArea>
      <c:layout/>
      <c:barChart>
        <c:barDir val="col"/>
        <c:grouping val="clustered"/>
        <c:varyColors val="0"/>
        <c:ser>
          <c:idx val="0"/>
          <c:order val="0"/>
          <c:tx>
            <c:strRef>
              <c:f>Sheet1!$B$1</c:f>
              <c:strCache>
                <c:ptCount val="1"/>
                <c:pt idx="0">
                  <c:v>Revenue ($M)</c:v>
                </c:pt>
              </c:strCache>
            </c:strRef>
          </c:tx>
          <c:spPr>
            <a:solidFill>
              <a:srgbClr val="1F7A8C"/>
            </a:solidFill>
            <a:effectLst/>
          </c:spPr>
          <c:invertIfNegative val="0"/>
          <c:dPt>
            <c:idx val="0"/>
            <c:invertIfNegative val="0"/>
            <c:bubble3D val="0"/>
            <c:extLst>
              <c:ext xmlns:c16="http://schemas.microsoft.com/office/drawing/2014/chart" uri="{C3380CC4-5D6E-409C-BE32-E72D297353CC}">
                <c16:uniqueId val="{00000001-CB8A-4FBC-B862-51FA4383E6FF}"/>
              </c:ext>
            </c:extLst>
          </c:dPt>
          <c:dPt>
            <c:idx val="1"/>
            <c:invertIfNegative val="0"/>
            <c:bubble3D val="0"/>
            <c:spPr>
              <a:solidFill>
                <a:srgbClr val="F26B21"/>
              </a:solidFill>
              <a:effectLst/>
            </c:spPr>
            <c:extLst>
              <c:ext xmlns:c16="http://schemas.microsoft.com/office/drawing/2014/chart" uri="{C3380CC4-5D6E-409C-BE32-E72D297353CC}">
                <c16:uniqueId val="{00000003-CB8A-4FBC-B862-51FA4383E6FF}"/>
              </c:ext>
            </c:extLst>
          </c:dPt>
          <c:dPt>
            <c:idx val="2"/>
            <c:invertIfNegative val="0"/>
            <c:bubble3D val="0"/>
            <c:extLst>
              <c:ext xmlns:c16="http://schemas.microsoft.com/office/drawing/2014/chart" uri="{C3380CC4-5D6E-409C-BE32-E72D297353CC}">
                <c16:uniqueId val="{00000005-CB8A-4FBC-B862-51FA4383E6FF}"/>
              </c:ext>
            </c:extLst>
          </c:dPt>
          <c:dLbls>
            <c:numFmt formatCode="\$0.00&quot;M&quot;" sourceLinked="0"/>
            <c:spPr>
              <a:noFill/>
              <a:ln>
                <a:noFill/>
              </a:ln>
              <a:effectLst/>
            </c:spPr>
            <c:txPr>
              <a:bodyPr/>
              <a:lstStyle/>
              <a:p>
                <a:pPr>
                  <a:defRPr sz="1200" b="0" i="0" u="none" strike="noStrike">
                    <a:solidFill>
                      <a:srgbClr val="1725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2016</c:v>
                </c:pt>
                <c:pt idx="1">
                  <c:v>2017</c:v>
                </c:pt>
                <c:pt idx="2">
                  <c:v>2018</c:v>
                </c:pt>
              </c:strCache>
            </c:strRef>
          </c:cat>
          <c:val>
            <c:numRef>
              <c:f>Sheet1!$B$2:$B$4</c:f>
              <c:numCache>
                <c:formatCode>General</c:formatCode>
                <c:ptCount val="3"/>
                <c:pt idx="0">
                  <c:v>2.71</c:v>
                </c:pt>
                <c:pt idx="1">
                  <c:v>3.85</c:v>
                </c:pt>
                <c:pt idx="2">
                  <c:v>2.02</c:v>
                </c:pt>
              </c:numCache>
            </c:numRef>
          </c:val>
          <c:extLst>
            <c:ext xmlns:c16="http://schemas.microsoft.com/office/drawing/2014/chart" uri="{C3380CC4-5D6E-409C-BE32-E72D297353CC}">
              <c16:uniqueId val="{00000006-CB8A-4FBC-B862-51FA4383E6F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52A"/>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2374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and thank you to my mentor, Varththini V. I'm Vishnu Prasad, and today I'll walk you through my final project: Retail Sales Analytics, built with Excel, SQL, Python and Power BI.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introduction. I'm a data analytics student at Vinsup Skill Academy in Coimbatore. Over this course I've learned to take raw data and turn it into decisions, and this capstone uses every tool I've learned: Excel, MySQL, Python and Power BI.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belongs to a bicycle retailer with three stores in California, New York and Texas. It covers 1,615 orders from 2016 to 2018, from 1,445 customers, with 321 products and about 8.6 million dollars in revenue. My goal was to answer three questions: which stores and products drive revenue, who our best customers are, and which items are running low on stock.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organised the work as four connected phases: Excel for cleaning, SQL for analysis, Python for customer segmentation, and Power BI for the final dashboard. Each phase feeds the next, so the Python results go back into MySQL and then straight into Power BI.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phase one, I used Excel to get the data ready. I checked for duplicates and missing values, such as customer phone numbers marked NA, and confirmed that order, required and shipped dates followed a logical sequence. I used XLOOKUP to bring product names into the order items, checked product prices for outliers, and built a pivot table. The chart shows Mountain Bikes leading sales at about three million dollars, followed by Road Bikes.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was SQL in MySQL. I used inner and left joins across orders, order items, products, customers and staff. Key queries include total sales by store, the top five products by quantity, a customer purchase summary, and a CASE statement that groups customers into Low, Medium and High spend. I also analysed revenue by staff member and wrote a stock alert for items below ten units. The chart shows Baldwin Bikes in New York generating about 5.8 million dollars, far ahead of the other two stores.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three used Python. I connected to MySQL with SQLAlchemy and loaded the tables into pandas. Then I calculated three RFM measures for every customer: recency, the days since their last order; frequency, the number of orders; and monetary value, their total spend. Customers were grouped into Low, Medium and High segments by spend, and I exported the result back into MySQL as the customer_segments table. About ninety-seven percent of customers are in the Low segment and only seven are High, which shows a clear opportunity to build customer loyalty.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four brings everything together in Power BI. The first page, Sales Overview, shows total revenue, customers, orders and average order value, with monthly sales trends, orders by state, and a category slicer. The second page, Sales Analysis, covers sales per staff member, top products, a low stock table, revenue by customer segment, and a map of sales by state, with slicers for store and order status. Decision makers can filter the story themselves instead of asking for new reports.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we learn? First, Baldwin Bikes drives about sixty-eight percent of revenue, so its approach is worth replicating. Second, Mountain and Road bikes bring in around fifty-seven percent of sales, so they deserve priority when restocking. Third, about a third of store-product stock records are below ten units, so automated restock alerts matter. Revenue also peaked in 2017 and dropped in 2018, which needs a closer look.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took raw data through four tools to a dashboard that supports real decisions. Thank you for listening, and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132320" cy="1554480"/>
          </a:xfrm>
          <a:prstGeom prst="rect">
            <a:avLst/>
          </a:prstGeom>
          <a:noFill/>
          <a:ln/>
        </p:spPr>
        <p:txBody>
          <a:bodyPr wrap="square" rtlCol="0"/>
          <a:lstStyle>
            <a:lvl1pPr marL="0" indent="0" algn="l">
              <a:buNone/>
              <a:defRPr lang="en-US" sz="5000" b="1" dirty="0">
                <a:solidFill>
                  <a:schemeClr val="bg1"/>
                </a:solidFill>
              </a:defRPr>
            </a:lvl1pPr>
          </a:lstStyle>
          <a:p>
            <a:pPr marL="0" indent="0" algn="l">
              <a:buNone/>
            </a:pPr>
            <a:endParaRPr lang="en-US" sz="5000" dirty="0"/>
          </a:p>
        </p:txBody>
      </p:sp>
      <p:sp>
        <p:nvSpPr>
          <p:cNvPr id="3" name="Text 0"/>
          <p:cNvSpPr>
            <a:spLocks noGrp="1"/>
          </p:cNvSpPr>
          <p:nvPr>
            <p:ph type="body" idx="101" hasCustomPrompt="1"/>
          </p:nvPr>
        </p:nvSpPr>
        <p:spPr>
          <a:xfrm>
            <a:off x="731520" y="3520440"/>
            <a:ext cx="7132320" cy="731520"/>
          </a:xfrm>
          <a:prstGeom prst="rect">
            <a:avLst/>
          </a:prstGeom>
          <a:noFill/>
          <a:ln/>
        </p:spPr>
        <p:txBody>
          <a:bodyPr wrap="square" rtlCol="0"/>
          <a:lstStyle>
            <a:lvl1pPr marL="0" indent="0" algn="l">
              <a:buNone/>
              <a:defRPr lang="en-US" sz="2200" dirty="0">
                <a:solidFill>
                  <a:schemeClr val="accent3"/>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Retail Sales Analytics  |  Vishnu Prasad  |  Vinsup Skill Academy</a:t>
            </a:r>
            <a:endParaRPr lang="en-US" sz="1000" dirty="0"/>
          </a:p>
        </p:txBody>
      </p:sp>
      <p:sp>
        <p:nvSpPr>
          <p:cNvPr id="3" name="Text 1"/>
          <p:cNvSpPr>
            <a:spLocks noGrp="1"/>
          </p:cNvSpPr>
          <p:nvPr>
            <p:ph type="title" idx="101" hasCustomPrompt="1"/>
          </p:nvPr>
        </p:nvSpPr>
        <p:spPr>
          <a:xfrm>
            <a:off x="548640" y="365760"/>
            <a:ext cx="11064240" cy="82296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18.png"/><Relationship Id="rId4" Type="http://schemas.openxmlformats.org/officeDocument/2006/relationships/image" Target="../media/image5.png"/><Relationship Id="rId9"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0.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8229600" cy="365760"/>
          </a:xfrm>
          <a:prstGeom prst="rect">
            <a:avLst/>
          </a:prstGeom>
          <a:noFill/>
          <a:ln/>
        </p:spPr>
        <p:txBody>
          <a:bodyPr wrap="square" lIns="0" tIns="0" rIns="0" bIns="0" rtlCol="0" anchor="ctr"/>
          <a:lstStyle/>
          <a:p>
            <a:pPr marL="0" indent="0">
              <a:buNone/>
            </a:pPr>
            <a:r>
              <a:rPr lang="en-US" sz="1400" b="1" kern="0" spc="300" dirty="0">
                <a:solidFill>
                  <a:schemeClr val="accent3"/>
                </a:solidFill>
              </a:rPr>
              <a:t>VINSUP SKILL ACADEMY  |  FINAL PROJECT PRESENTATION</a:t>
            </a:r>
            <a:endParaRPr lang="en-US" sz="1400" dirty="0"/>
          </a:p>
        </p:txBody>
      </p:sp>
      <p:sp>
        <p:nvSpPr>
          <p:cNvPr id="3" name="Text 0"/>
          <p:cNvSpPr>
            <a:spLocks noGrp="1"/>
          </p:cNvSpPr>
          <p:nvPr>
            <p:ph type="title" idx="100" hasCustomPrompt="1"/>
          </p:nvPr>
        </p:nvSpPr>
        <p:spPr>
          <a:xfrm>
            <a:off x="731520" y="1828800"/>
            <a:ext cx="7132320" cy="1554480"/>
          </a:xfrm>
          <a:prstGeom prst="rect">
            <a:avLst/>
          </a:prstGeom>
          <a:noFill/>
          <a:ln/>
        </p:spPr>
        <p:txBody>
          <a:bodyPr wrap="square" lIns="0" tIns="0" rIns="0" bIns="0" rtlCol="0" anchor="b"/>
          <a:lstStyle/>
          <a:p>
            <a:pPr marL="0" indent="0" algn="l">
              <a:buNone/>
            </a:pPr>
            <a:r>
              <a:rPr lang="en-US" sz="5000" b="1" dirty="0">
                <a:solidFill>
                  <a:schemeClr val="bg1"/>
                </a:solidFill>
              </a:rPr>
              <a:t>Retail Sales Analytics</a:t>
            </a:r>
            <a:endParaRPr lang="en-US" sz="5000" dirty="0"/>
          </a:p>
        </p:txBody>
      </p:sp>
      <p:sp>
        <p:nvSpPr>
          <p:cNvPr id="4" name="Text 0"/>
          <p:cNvSpPr>
            <a:spLocks noGrp="1"/>
          </p:cNvSpPr>
          <p:nvPr>
            <p:ph type="body" idx="101" hasCustomPrompt="1"/>
          </p:nvPr>
        </p:nvSpPr>
        <p:spPr>
          <a:xfrm>
            <a:off x="731520" y="3520440"/>
            <a:ext cx="7132320" cy="731520"/>
          </a:xfrm>
          <a:prstGeom prst="rect">
            <a:avLst/>
          </a:prstGeom>
          <a:noFill/>
          <a:ln/>
        </p:spPr>
        <p:txBody>
          <a:bodyPr wrap="square" lIns="0" tIns="0" rIns="0" bIns="0" rtlCol="0" anchor="t"/>
          <a:lstStyle/>
          <a:p>
            <a:pPr marL="0" indent="0" algn="l">
              <a:buNone/>
            </a:pPr>
            <a:r>
              <a:rPr lang="en-US" sz="2200" dirty="0">
                <a:solidFill>
                  <a:schemeClr val="accent3"/>
                </a:solidFill>
              </a:rPr>
              <a:t>Using Excel, SQL, Python and Power BI</a:t>
            </a:r>
            <a:endParaRPr lang="en-US" sz="2200" dirty="0"/>
          </a:p>
        </p:txBody>
      </p:sp>
      <p:sp>
        <p:nvSpPr>
          <p:cNvPr id="5" name="Text 3"/>
          <p:cNvSpPr txBox="1"/>
          <p:nvPr/>
        </p:nvSpPr>
        <p:spPr>
          <a:xfrm>
            <a:off x="731520" y="5029200"/>
            <a:ext cx="237744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PRESENTER</a:t>
            </a:r>
            <a:endParaRPr lang="en-US" sz="1200" dirty="0"/>
          </a:p>
        </p:txBody>
      </p:sp>
      <p:sp>
        <p:nvSpPr>
          <p:cNvPr id="6" name="Text 4"/>
          <p:cNvSpPr txBox="1"/>
          <p:nvPr/>
        </p:nvSpPr>
        <p:spPr>
          <a:xfrm>
            <a:off x="731520" y="5349240"/>
            <a:ext cx="2377440" cy="411480"/>
          </a:xfrm>
          <a:prstGeom prst="rect">
            <a:avLst/>
          </a:prstGeom>
          <a:noFill/>
          <a:ln/>
        </p:spPr>
        <p:txBody>
          <a:bodyPr wrap="square" lIns="0" tIns="0" rIns="0" bIns="0" rtlCol="0" anchor="ctr"/>
          <a:lstStyle/>
          <a:p>
            <a:pPr marL="0" indent="0">
              <a:buNone/>
            </a:pPr>
            <a:r>
              <a:rPr lang="en-US" sz="1800" b="1" dirty="0">
                <a:solidFill>
                  <a:schemeClr val="bg1"/>
                </a:solidFill>
              </a:rPr>
              <a:t>Vishnu Prasad</a:t>
            </a:r>
            <a:endParaRPr lang="en-US" sz="1800" dirty="0"/>
          </a:p>
        </p:txBody>
      </p:sp>
      <p:sp>
        <p:nvSpPr>
          <p:cNvPr id="7" name="Text 5"/>
          <p:cNvSpPr txBox="1"/>
          <p:nvPr/>
        </p:nvSpPr>
        <p:spPr>
          <a:xfrm>
            <a:off x="3246120" y="5029200"/>
            <a:ext cx="237744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MENTOR</a:t>
            </a:r>
            <a:endParaRPr lang="en-US" sz="1200" dirty="0"/>
          </a:p>
        </p:txBody>
      </p:sp>
      <p:sp>
        <p:nvSpPr>
          <p:cNvPr id="8" name="Text 6"/>
          <p:cNvSpPr txBox="1"/>
          <p:nvPr/>
        </p:nvSpPr>
        <p:spPr>
          <a:xfrm>
            <a:off x="3246120" y="5349240"/>
            <a:ext cx="2377440" cy="411480"/>
          </a:xfrm>
          <a:prstGeom prst="rect">
            <a:avLst/>
          </a:prstGeom>
          <a:noFill/>
          <a:ln/>
        </p:spPr>
        <p:txBody>
          <a:bodyPr wrap="square" lIns="0" tIns="0" rIns="0" bIns="0" rtlCol="0" anchor="ctr"/>
          <a:lstStyle/>
          <a:p>
            <a:pPr marL="0" indent="0">
              <a:buNone/>
            </a:pPr>
            <a:r>
              <a:rPr lang="en-US" sz="1800" b="1" dirty="0">
                <a:solidFill>
                  <a:schemeClr val="bg1"/>
                </a:solidFill>
              </a:rPr>
              <a:t>Varththini V</a:t>
            </a:r>
            <a:endParaRPr lang="en-US" sz="1800" dirty="0"/>
          </a:p>
        </p:txBody>
      </p:sp>
      <p:sp>
        <p:nvSpPr>
          <p:cNvPr id="9" name="Text 7"/>
          <p:cNvSpPr txBox="1"/>
          <p:nvPr/>
        </p:nvSpPr>
        <p:spPr>
          <a:xfrm>
            <a:off x="5760720" y="5029200"/>
            <a:ext cx="237744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DATE</a:t>
            </a:r>
            <a:endParaRPr lang="en-US" sz="1200" dirty="0"/>
          </a:p>
        </p:txBody>
      </p:sp>
      <p:sp>
        <p:nvSpPr>
          <p:cNvPr id="10" name="Text 8"/>
          <p:cNvSpPr txBox="1"/>
          <p:nvPr/>
        </p:nvSpPr>
        <p:spPr>
          <a:xfrm>
            <a:off x="5760720" y="5349240"/>
            <a:ext cx="2377440" cy="411480"/>
          </a:xfrm>
          <a:prstGeom prst="rect">
            <a:avLst/>
          </a:prstGeom>
          <a:noFill/>
          <a:ln/>
        </p:spPr>
        <p:txBody>
          <a:bodyPr wrap="square" lIns="0" tIns="0" rIns="0" bIns="0" rtlCol="0" anchor="ctr"/>
          <a:lstStyle/>
          <a:p>
            <a:pPr marL="0" indent="0">
              <a:buNone/>
            </a:pPr>
            <a:r>
              <a:rPr lang="en-US" sz="1800" b="1" dirty="0">
                <a:solidFill>
                  <a:schemeClr val="bg1"/>
                </a:solidFill>
              </a:rPr>
              <a:t>21 September 2026</a:t>
            </a:r>
            <a:endParaRPr lang="en-US" sz="1800" dirty="0"/>
          </a:p>
        </p:txBody>
      </p:sp>
      <p:sp>
        <p:nvSpPr>
          <p:cNvPr id="11" name="Excel circle"/>
          <p:cNvSpPr/>
          <p:nvPr/>
        </p:nvSpPr>
        <p:spPr>
          <a:xfrm>
            <a:off x="8503920" y="1737360"/>
            <a:ext cx="1371600" cy="1371600"/>
          </a:xfrm>
          <a:prstGeom prst="ellipse">
            <a:avLst/>
          </a:prstGeom>
          <a:solidFill>
            <a:srgbClr val="2E9E6B"/>
          </a:solidFill>
          <a:ln w="12700">
            <a:solidFill>
              <a:srgbClr val="2E9E6B"/>
            </a:solidFill>
            <a:prstDash val="solid"/>
          </a:ln>
        </p:spPr>
      </p:sp>
      <p:pic>
        <p:nvPicPr>
          <p:cNvPr id="12" name="Excel icon" descr="Excel"/>
          <p:cNvPicPr>
            <a:picLocks noChangeAspect="1"/>
          </p:cNvPicPr>
          <p:nvPr/>
        </p:nvPicPr>
        <p:blipFill>
          <a:blip r:embed="rId3"/>
          <a:stretch>
            <a:fillRect/>
          </a:stretch>
        </p:blipFill>
        <p:spPr>
          <a:xfrm>
            <a:off x="8874252" y="2107692"/>
            <a:ext cx="630936" cy="630936"/>
          </a:xfrm>
          <a:prstGeom prst="rect">
            <a:avLst/>
          </a:prstGeom>
        </p:spPr>
      </p:pic>
      <p:sp>
        <p:nvSpPr>
          <p:cNvPr id="13" name="Text 10"/>
          <p:cNvSpPr txBox="1"/>
          <p:nvPr/>
        </p:nvSpPr>
        <p:spPr>
          <a:xfrm>
            <a:off x="8321040" y="3200400"/>
            <a:ext cx="1737360" cy="320040"/>
          </a:xfrm>
          <a:prstGeom prst="rect">
            <a:avLst/>
          </a:prstGeom>
          <a:noFill/>
          <a:ln/>
        </p:spPr>
        <p:txBody>
          <a:bodyPr wrap="square" lIns="0" tIns="0" rIns="0" bIns="0" rtlCol="0" anchor="ctr"/>
          <a:lstStyle/>
          <a:p>
            <a:pPr marL="0" indent="0" algn="ctr">
              <a:buNone/>
            </a:pPr>
            <a:r>
              <a:rPr lang="en-US" sz="1400" dirty="0">
                <a:solidFill>
                  <a:schemeClr val="bg1"/>
                </a:solidFill>
              </a:rPr>
              <a:t>Excel</a:t>
            </a:r>
            <a:endParaRPr lang="en-US" sz="1400" dirty="0"/>
          </a:p>
        </p:txBody>
      </p:sp>
      <p:sp>
        <p:nvSpPr>
          <p:cNvPr id="14" name="SQL circle"/>
          <p:cNvSpPr/>
          <p:nvPr/>
        </p:nvSpPr>
        <p:spPr>
          <a:xfrm>
            <a:off x="10424160" y="1737360"/>
            <a:ext cx="1371600" cy="1371600"/>
          </a:xfrm>
          <a:prstGeom prst="ellipse">
            <a:avLst/>
          </a:prstGeom>
          <a:solidFill>
            <a:srgbClr val="1F7A8C"/>
          </a:solidFill>
          <a:ln w="12700">
            <a:solidFill>
              <a:srgbClr val="1F7A8C"/>
            </a:solidFill>
            <a:prstDash val="solid"/>
          </a:ln>
        </p:spPr>
      </p:sp>
      <p:pic>
        <p:nvPicPr>
          <p:cNvPr id="15" name="SQL icon" descr="SQL"/>
          <p:cNvPicPr>
            <a:picLocks noChangeAspect="1"/>
          </p:cNvPicPr>
          <p:nvPr/>
        </p:nvPicPr>
        <p:blipFill>
          <a:blip r:embed="rId4"/>
          <a:stretch>
            <a:fillRect/>
          </a:stretch>
        </p:blipFill>
        <p:spPr>
          <a:xfrm>
            <a:off x="10794492" y="2107692"/>
            <a:ext cx="630936" cy="630936"/>
          </a:xfrm>
          <a:prstGeom prst="rect">
            <a:avLst/>
          </a:prstGeom>
        </p:spPr>
      </p:pic>
      <p:sp>
        <p:nvSpPr>
          <p:cNvPr id="16" name="Text 12"/>
          <p:cNvSpPr txBox="1"/>
          <p:nvPr/>
        </p:nvSpPr>
        <p:spPr>
          <a:xfrm>
            <a:off x="10241280" y="3200400"/>
            <a:ext cx="1737360" cy="320040"/>
          </a:xfrm>
          <a:prstGeom prst="rect">
            <a:avLst/>
          </a:prstGeom>
          <a:noFill/>
          <a:ln/>
        </p:spPr>
        <p:txBody>
          <a:bodyPr wrap="square" lIns="0" tIns="0" rIns="0" bIns="0" rtlCol="0" anchor="ctr"/>
          <a:lstStyle/>
          <a:p>
            <a:pPr marL="0" indent="0" algn="ctr">
              <a:buNone/>
            </a:pPr>
            <a:r>
              <a:rPr lang="en-US" sz="1400" dirty="0">
                <a:solidFill>
                  <a:schemeClr val="bg1"/>
                </a:solidFill>
              </a:rPr>
              <a:t>SQL</a:t>
            </a:r>
            <a:endParaRPr lang="en-US" sz="1400" dirty="0"/>
          </a:p>
        </p:txBody>
      </p:sp>
      <p:sp>
        <p:nvSpPr>
          <p:cNvPr id="17" name="Python circle"/>
          <p:cNvSpPr/>
          <p:nvPr/>
        </p:nvSpPr>
        <p:spPr>
          <a:xfrm>
            <a:off x="8503920" y="3840480"/>
            <a:ext cx="1371600" cy="1371600"/>
          </a:xfrm>
          <a:prstGeom prst="ellipse">
            <a:avLst/>
          </a:prstGeom>
          <a:solidFill>
            <a:srgbClr val="F2B134"/>
          </a:solidFill>
          <a:ln w="12700">
            <a:solidFill>
              <a:srgbClr val="F2B134"/>
            </a:solidFill>
            <a:prstDash val="solid"/>
          </a:ln>
        </p:spPr>
      </p:sp>
      <p:pic>
        <p:nvPicPr>
          <p:cNvPr id="18" name="Python icon" descr="Python"/>
          <p:cNvPicPr>
            <a:picLocks noChangeAspect="1"/>
          </p:cNvPicPr>
          <p:nvPr/>
        </p:nvPicPr>
        <p:blipFill>
          <a:blip r:embed="rId5"/>
          <a:stretch>
            <a:fillRect/>
          </a:stretch>
        </p:blipFill>
        <p:spPr>
          <a:xfrm>
            <a:off x="8874252" y="4210812"/>
            <a:ext cx="630936" cy="630936"/>
          </a:xfrm>
          <a:prstGeom prst="rect">
            <a:avLst/>
          </a:prstGeom>
        </p:spPr>
      </p:pic>
      <p:sp>
        <p:nvSpPr>
          <p:cNvPr id="19" name="Text 14"/>
          <p:cNvSpPr txBox="1"/>
          <p:nvPr/>
        </p:nvSpPr>
        <p:spPr>
          <a:xfrm>
            <a:off x="8321040" y="5303520"/>
            <a:ext cx="1737360" cy="320040"/>
          </a:xfrm>
          <a:prstGeom prst="rect">
            <a:avLst/>
          </a:prstGeom>
          <a:noFill/>
          <a:ln/>
        </p:spPr>
        <p:txBody>
          <a:bodyPr wrap="square" lIns="0" tIns="0" rIns="0" bIns="0" rtlCol="0" anchor="ctr"/>
          <a:lstStyle/>
          <a:p>
            <a:pPr marL="0" indent="0" algn="ctr">
              <a:buNone/>
            </a:pPr>
            <a:r>
              <a:rPr lang="en-US" sz="1400" dirty="0">
                <a:solidFill>
                  <a:schemeClr val="bg1"/>
                </a:solidFill>
              </a:rPr>
              <a:t>Python</a:t>
            </a:r>
            <a:endParaRPr lang="en-US" sz="1400" dirty="0"/>
          </a:p>
        </p:txBody>
      </p:sp>
      <p:sp>
        <p:nvSpPr>
          <p:cNvPr id="20" name="Power BI circle"/>
          <p:cNvSpPr/>
          <p:nvPr/>
        </p:nvSpPr>
        <p:spPr>
          <a:xfrm>
            <a:off x="10424160" y="3840480"/>
            <a:ext cx="1371600" cy="1371600"/>
          </a:xfrm>
          <a:prstGeom prst="ellipse">
            <a:avLst/>
          </a:prstGeom>
          <a:solidFill>
            <a:srgbClr val="F26B21"/>
          </a:solidFill>
          <a:ln w="12700">
            <a:solidFill>
              <a:srgbClr val="F26B21"/>
            </a:solidFill>
            <a:prstDash val="solid"/>
          </a:ln>
        </p:spPr>
      </p:sp>
      <p:pic>
        <p:nvPicPr>
          <p:cNvPr id="21" name="Power BI icon" descr="Power BI"/>
          <p:cNvPicPr>
            <a:picLocks noChangeAspect="1"/>
          </p:cNvPicPr>
          <p:nvPr/>
        </p:nvPicPr>
        <p:blipFill>
          <a:blip r:embed="rId6"/>
          <a:stretch>
            <a:fillRect/>
          </a:stretch>
        </p:blipFill>
        <p:spPr>
          <a:xfrm>
            <a:off x="10794492" y="4210812"/>
            <a:ext cx="630936" cy="630936"/>
          </a:xfrm>
          <a:prstGeom prst="rect">
            <a:avLst/>
          </a:prstGeom>
        </p:spPr>
      </p:pic>
      <p:sp>
        <p:nvSpPr>
          <p:cNvPr id="22" name="Text 16"/>
          <p:cNvSpPr txBox="1"/>
          <p:nvPr/>
        </p:nvSpPr>
        <p:spPr>
          <a:xfrm>
            <a:off x="10241280" y="5303520"/>
            <a:ext cx="1737360" cy="320040"/>
          </a:xfrm>
          <a:prstGeom prst="rect">
            <a:avLst/>
          </a:prstGeom>
          <a:noFill/>
          <a:ln/>
        </p:spPr>
        <p:txBody>
          <a:bodyPr wrap="square" lIns="0" tIns="0" rIns="0" bIns="0" rtlCol="0" anchor="ctr"/>
          <a:lstStyle/>
          <a:p>
            <a:pPr marL="0" indent="0" algn="ctr">
              <a:buNone/>
            </a:pPr>
            <a:r>
              <a:rPr lang="en-US" sz="1400" dirty="0">
                <a:solidFill>
                  <a:schemeClr val="bg1"/>
                </a:solidFill>
              </a:rPr>
              <a:t>Power BI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About Me</a:t>
            </a:r>
            <a:endParaRPr lang="en-US" sz="3400" dirty="0"/>
          </a:p>
        </p:txBody>
      </p:sp>
      <p:sp>
        <p:nvSpPr>
          <p:cNvPr id="3" name="Bio card"/>
          <p:cNvSpPr/>
          <p:nvPr/>
        </p:nvSpPr>
        <p:spPr>
          <a:xfrm>
            <a:off x="548640" y="1463040"/>
            <a:ext cx="3657600" cy="4663440"/>
          </a:xfrm>
          <a:prstGeom prst="roundRect">
            <a:avLst>
              <a:gd name="adj" fmla="val 3000"/>
            </a:avLst>
          </a:prstGeom>
          <a:solidFill>
            <a:schemeClr val="bg2"/>
          </a:solidFill>
          <a:ln w="12700">
            <a:solidFill>
              <a:schemeClr val="bg2"/>
            </a:solidFill>
            <a:prstDash val="solid"/>
          </a:ln>
        </p:spPr>
      </p:sp>
      <p:sp>
        <p:nvSpPr>
          <p:cNvPr id="4" name="Initials circle"/>
          <p:cNvSpPr/>
          <p:nvPr/>
        </p:nvSpPr>
        <p:spPr>
          <a:xfrm>
            <a:off x="1463040" y="1828800"/>
            <a:ext cx="1828800" cy="1828800"/>
          </a:xfrm>
          <a:prstGeom prst="ellipse">
            <a:avLst/>
          </a:prstGeom>
          <a:solidFill>
            <a:schemeClr val="accent1"/>
          </a:solidFill>
          <a:ln w="12700">
            <a:solidFill>
              <a:schemeClr val="accent1"/>
            </a:solidFill>
            <a:prstDash val="solid"/>
          </a:ln>
        </p:spPr>
      </p:sp>
      <p:sp>
        <p:nvSpPr>
          <p:cNvPr id="5" name="Initials"/>
          <p:cNvSpPr txBox="1"/>
          <p:nvPr/>
        </p:nvSpPr>
        <p:spPr>
          <a:xfrm>
            <a:off x="1463040" y="1828800"/>
            <a:ext cx="1828800" cy="1828800"/>
          </a:xfrm>
          <a:prstGeom prst="rect">
            <a:avLst/>
          </a:prstGeom>
          <a:noFill/>
          <a:ln/>
        </p:spPr>
        <p:txBody>
          <a:bodyPr wrap="square" lIns="0" tIns="0" rIns="0" bIns="0" rtlCol="0" anchor="ctr"/>
          <a:lstStyle/>
          <a:p>
            <a:pPr marL="0" indent="0" algn="ctr">
              <a:buNone/>
            </a:pPr>
            <a:r>
              <a:rPr lang="en-US" sz="5400" b="1" dirty="0">
                <a:solidFill>
                  <a:schemeClr val="bg1"/>
                </a:solidFill>
              </a:rPr>
              <a:t>VP</a:t>
            </a:r>
            <a:endParaRPr lang="en-US" sz="5400" dirty="0"/>
          </a:p>
        </p:txBody>
      </p:sp>
      <p:sp>
        <p:nvSpPr>
          <p:cNvPr id="6" name="Text 4"/>
          <p:cNvSpPr txBox="1"/>
          <p:nvPr/>
        </p:nvSpPr>
        <p:spPr>
          <a:xfrm>
            <a:off x="731520" y="3931920"/>
            <a:ext cx="3291840" cy="502920"/>
          </a:xfrm>
          <a:prstGeom prst="rect">
            <a:avLst/>
          </a:prstGeom>
          <a:noFill/>
          <a:ln/>
        </p:spPr>
        <p:txBody>
          <a:bodyPr wrap="square" lIns="0" tIns="0" rIns="0" bIns="0" rtlCol="0" anchor="ctr"/>
          <a:lstStyle/>
          <a:p>
            <a:pPr marL="0" indent="0" algn="ctr">
              <a:buNone/>
            </a:pPr>
            <a:r>
              <a:rPr lang="en-US" sz="2800" b="1" dirty="0">
                <a:solidFill>
                  <a:schemeClr val="tx2"/>
                </a:solidFill>
              </a:rPr>
              <a:t>Vishnu Prasad</a:t>
            </a:r>
            <a:endParaRPr lang="en-US" sz="2800" dirty="0"/>
          </a:p>
        </p:txBody>
      </p:sp>
      <p:sp>
        <p:nvSpPr>
          <p:cNvPr id="7" name="Text 5"/>
          <p:cNvSpPr txBox="1"/>
          <p:nvPr/>
        </p:nvSpPr>
        <p:spPr>
          <a:xfrm>
            <a:off x="731520" y="4480560"/>
            <a:ext cx="3291840" cy="365760"/>
          </a:xfrm>
          <a:prstGeom prst="rect">
            <a:avLst/>
          </a:prstGeom>
          <a:noFill/>
          <a:ln/>
        </p:spPr>
        <p:txBody>
          <a:bodyPr wrap="square" lIns="0" tIns="0" rIns="0" bIns="0" rtlCol="0" anchor="ctr"/>
          <a:lstStyle/>
          <a:p>
            <a:pPr marL="0" indent="0" algn="ctr">
              <a:buNone/>
            </a:pPr>
            <a:r>
              <a:rPr lang="en-US" sz="1800" b="1" dirty="0">
                <a:solidFill>
                  <a:schemeClr val="accent2"/>
                </a:solidFill>
              </a:rPr>
              <a:t>Data Analytics Student</a:t>
            </a:r>
            <a:endParaRPr lang="en-US" sz="1800" dirty="0"/>
          </a:p>
        </p:txBody>
      </p:sp>
      <p:sp>
        <p:nvSpPr>
          <p:cNvPr id="8" name="Text 6"/>
          <p:cNvSpPr txBox="1"/>
          <p:nvPr/>
        </p:nvSpPr>
        <p:spPr>
          <a:xfrm>
            <a:off x="731520" y="4937760"/>
            <a:ext cx="3291840" cy="365760"/>
          </a:xfrm>
          <a:prstGeom prst="rect">
            <a:avLst/>
          </a:prstGeom>
          <a:noFill/>
          <a:ln/>
        </p:spPr>
        <p:txBody>
          <a:bodyPr wrap="square" lIns="0" tIns="0" rIns="0" bIns="0" rtlCol="0" anchor="ctr"/>
          <a:lstStyle/>
          <a:p>
            <a:pPr marL="0" indent="0" algn="ctr">
              <a:buNone/>
            </a:pPr>
            <a:r>
              <a:rPr lang="en-US" sz="1600" dirty="0">
                <a:solidFill>
                  <a:schemeClr val="tx1"/>
                </a:solidFill>
              </a:rPr>
              <a:t>Vinsup Skill Academy</a:t>
            </a:r>
            <a:endParaRPr lang="en-US" sz="1600" dirty="0"/>
          </a:p>
        </p:txBody>
      </p:sp>
      <p:sp>
        <p:nvSpPr>
          <p:cNvPr id="9" name="Text 7"/>
          <p:cNvSpPr txBox="1"/>
          <p:nvPr/>
        </p:nvSpPr>
        <p:spPr>
          <a:xfrm>
            <a:off x="731520" y="5303520"/>
            <a:ext cx="3291840" cy="320040"/>
          </a:xfrm>
          <a:prstGeom prst="rect">
            <a:avLst/>
          </a:prstGeom>
          <a:noFill/>
          <a:ln/>
        </p:spPr>
        <p:txBody>
          <a:bodyPr wrap="square" lIns="0" tIns="0" rIns="0" bIns="0" rtlCol="0" anchor="ctr"/>
          <a:lstStyle/>
          <a:p>
            <a:pPr marL="0" indent="0" algn="ctr">
              <a:buNone/>
            </a:pPr>
            <a:r>
              <a:rPr lang="en-US" sz="1400" dirty="0">
                <a:solidFill>
                  <a:schemeClr val="tx1"/>
                </a:solidFill>
              </a:rPr>
              <a:t>Coimbatore</a:t>
            </a:r>
            <a:endParaRPr lang="en-US" sz="1400" dirty="0"/>
          </a:p>
        </p:txBody>
      </p:sp>
      <p:sp>
        <p:nvSpPr>
          <p:cNvPr id="10" name="Text 8"/>
          <p:cNvSpPr txBox="1"/>
          <p:nvPr/>
        </p:nvSpPr>
        <p:spPr>
          <a:xfrm>
            <a:off x="4663440" y="1463040"/>
            <a:ext cx="6949440" cy="411480"/>
          </a:xfrm>
          <a:prstGeom prst="rect">
            <a:avLst/>
          </a:prstGeom>
          <a:noFill/>
          <a:ln/>
        </p:spPr>
        <p:txBody>
          <a:bodyPr wrap="square" lIns="0" tIns="0" rIns="0" bIns="0" rtlCol="0" anchor="ctr"/>
          <a:lstStyle/>
          <a:p>
            <a:pPr marL="0" indent="0">
              <a:buNone/>
            </a:pPr>
            <a:r>
              <a:rPr lang="en-US" sz="2200" b="1" dirty="0">
                <a:solidFill>
                  <a:schemeClr val="tx2"/>
                </a:solidFill>
              </a:rPr>
              <a:t>Profile</a:t>
            </a:r>
            <a:endParaRPr lang="en-US" sz="2200" dirty="0"/>
          </a:p>
        </p:txBody>
      </p:sp>
      <p:sp>
        <p:nvSpPr>
          <p:cNvPr id="11" name="Text 9"/>
          <p:cNvSpPr txBox="1"/>
          <p:nvPr/>
        </p:nvSpPr>
        <p:spPr>
          <a:xfrm>
            <a:off x="4663440" y="1920240"/>
            <a:ext cx="6949440" cy="1188720"/>
          </a:xfrm>
          <a:prstGeom prst="rect">
            <a:avLst/>
          </a:prstGeom>
          <a:noFill/>
          <a:ln/>
        </p:spPr>
        <p:txBody>
          <a:bodyPr wrap="square" lIns="0" tIns="0" rIns="0" bIns="0" rtlCol="0" anchor="t"/>
          <a:lstStyle/>
          <a:p>
            <a:pPr marL="0" indent="0">
              <a:buNone/>
            </a:pPr>
            <a:r>
              <a:rPr lang="en-US" sz="1600" dirty="0">
                <a:solidFill>
                  <a:schemeClr val="tx1"/>
                </a:solidFill>
              </a:rPr>
              <a:t>Data analytics student at Vinsup Skill Academy, building end-to-end skills in data cleaning, SQL analysis, Python and business intelligence. This capstone shows how raw retail data becomes business decisions using four industry tools in one connected workflow.</a:t>
            </a:r>
            <a:endParaRPr lang="en-US" sz="1600" dirty="0"/>
          </a:p>
        </p:txBody>
      </p:sp>
      <p:sp>
        <p:nvSpPr>
          <p:cNvPr id="12" name="Text 10"/>
          <p:cNvSpPr txBox="1"/>
          <p:nvPr/>
        </p:nvSpPr>
        <p:spPr>
          <a:xfrm>
            <a:off x="4663440" y="3291840"/>
            <a:ext cx="6949440" cy="411480"/>
          </a:xfrm>
          <a:prstGeom prst="rect">
            <a:avLst/>
          </a:prstGeom>
          <a:noFill/>
          <a:ln/>
        </p:spPr>
        <p:txBody>
          <a:bodyPr wrap="square" lIns="0" tIns="0" rIns="0" bIns="0" rtlCol="0" anchor="ctr"/>
          <a:lstStyle/>
          <a:p>
            <a:pPr marL="0" indent="0">
              <a:buNone/>
            </a:pPr>
            <a:r>
              <a:rPr lang="en-US" sz="2200" b="1" dirty="0">
                <a:solidFill>
                  <a:schemeClr val="tx2"/>
                </a:solidFill>
              </a:rPr>
              <a:t>Tools applied in this capstone</a:t>
            </a:r>
            <a:endParaRPr lang="en-US" sz="2200" dirty="0"/>
          </a:p>
        </p:txBody>
      </p:sp>
      <p:sp>
        <p:nvSpPr>
          <p:cNvPr id="13" name="Tool card Excel"/>
          <p:cNvSpPr/>
          <p:nvPr/>
        </p:nvSpPr>
        <p:spPr>
          <a:xfrm>
            <a:off x="4663440" y="3840480"/>
            <a:ext cx="3383280" cy="1051560"/>
          </a:xfrm>
          <a:prstGeom prst="roundRect">
            <a:avLst>
              <a:gd name="adj" fmla="val 10435"/>
            </a:avLst>
          </a:prstGeom>
          <a:solidFill>
            <a:schemeClr val="bg2"/>
          </a:solidFill>
          <a:ln w="12700">
            <a:solidFill>
              <a:schemeClr val="bg2"/>
            </a:solidFill>
            <a:prstDash val="solid"/>
          </a:ln>
        </p:spPr>
      </p:sp>
      <p:sp>
        <p:nvSpPr>
          <p:cNvPr id="14" name="Excel circle"/>
          <p:cNvSpPr/>
          <p:nvPr/>
        </p:nvSpPr>
        <p:spPr>
          <a:xfrm>
            <a:off x="4846320" y="4041648"/>
            <a:ext cx="640080" cy="640080"/>
          </a:xfrm>
          <a:prstGeom prst="ellipse">
            <a:avLst/>
          </a:prstGeom>
          <a:solidFill>
            <a:srgbClr val="2E9E6B"/>
          </a:solidFill>
          <a:ln w="12700">
            <a:solidFill>
              <a:srgbClr val="2E9E6B"/>
            </a:solidFill>
            <a:prstDash val="solid"/>
          </a:ln>
        </p:spPr>
      </p:sp>
      <p:pic>
        <p:nvPicPr>
          <p:cNvPr id="15" name="Excel icon" descr="Excel"/>
          <p:cNvPicPr>
            <a:picLocks noChangeAspect="1"/>
          </p:cNvPicPr>
          <p:nvPr/>
        </p:nvPicPr>
        <p:blipFill>
          <a:blip r:embed="rId3"/>
          <a:stretch>
            <a:fillRect/>
          </a:stretch>
        </p:blipFill>
        <p:spPr>
          <a:xfrm>
            <a:off x="5019142" y="4214470"/>
            <a:ext cx="294437" cy="294437"/>
          </a:xfrm>
          <a:prstGeom prst="rect">
            <a:avLst/>
          </a:prstGeom>
        </p:spPr>
      </p:pic>
      <p:sp>
        <p:nvSpPr>
          <p:cNvPr id="16" name="Text 13"/>
          <p:cNvSpPr txBox="1"/>
          <p:nvPr/>
        </p:nvSpPr>
        <p:spPr>
          <a:xfrm>
            <a:off x="5669280" y="4023360"/>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Excel</a:t>
            </a:r>
            <a:endParaRPr lang="en-US" sz="1600" dirty="0"/>
          </a:p>
        </p:txBody>
      </p:sp>
      <p:sp>
        <p:nvSpPr>
          <p:cNvPr id="17" name="Text 14"/>
          <p:cNvSpPr txBox="1"/>
          <p:nvPr/>
        </p:nvSpPr>
        <p:spPr>
          <a:xfrm>
            <a:off x="5669280" y="4370832"/>
            <a:ext cx="2331720" cy="320040"/>
          </a:xfrm>
          <a:prstGeom prst="rect">
            <a:avLst/>
          </a:prstGeom>
          <a:noFill/>
          <a:ln/>
        </p:spPr>
        <p:txBody>
          <a:bodyPr wrap="square" lIns="0" tIns="0" rIns="0" bIns="0" rtlCol="0" anchor="ctr"/>
          <a:lstStyle/>
          <a:p>
            <a:pPr marL="0" indent="0">
              <a:buNone/>
            </a:pPr>
            <a:r>
              <a:rPr lang="en-US" sz="1400" dirty="0">
                <a:solidFill>
                  <a:schemeClr val="tx1"/>
                </a:solidFill>
              </a:rPr>
              <a:t>Cleaning, pivots, XLOOKUP</a:t>
            </a:r>
            <a:endParaRPr lang="en-US" sz="1400" dirty="0"/>
          </a:p>
        </p:txBody>
      </p:sp>
      <p:sp>
        <p:nvSpPr>
          <p:cNvPr id="18" name="Tool card SQL (MySQL)"/>
          <p:cNvSpPr/>
          <p:nvPr/>
        </p:nvSpPr>
        <p:spPr>
          <a:xfrm>
            <a:off x="8229600" y="3840480"/>
            <a:ext cx="3383280" cy="1051560"/>
          </a:xfrm>
          <a:prstGeom prst="roundRect">
            <a:avLst>
              <a:gd name="adj" fmla="val 10435"/>
            </a:avLst>
          </a:prstGeom>
          <a:solidFill>
            <a:schemeClr val="bg2"/>
          </a:solidFill>
          <a:ln w="12700">
            <a:solidFill>
              <a:schemeClr val="bg2"/>
            </a:solidFill>
            <a:prstDash val="solid"/>
          </a:ln>
        </p:spPr>
      </p:sp>
      <p:sp>
        <p:nvSpPr>
          <p:cNvPr id="19" name="SQL (MySQL) circle"/>
          <p:cNvSpPr/>
          <p:nvPr/>
        </p:nvSpPr>
        <p:spPr>
          <a:xfrm>
            <a:off x="8412480" y="4041648"/>
            <a:ext cx="640080" cy="640080"/>
          </a:xfrm>
          <a:prstGeom prst="ellipse">
            <a:avLst/>
          </a:prstGeom>
          <a:solidFill>
            <a:srgbClr val="1F7A8C"/>
          </a:solidFill>
          <a:ln w="12700">
            <a:solidFill>
              <a:srgbClr val="1F7A8C"/>
            </a:solidFill>
            <a:prstDash val="solid"/>
          </a:ln>
        </p:spPr>
      </p:sp>
      <p:pic>
        <p:nvPicPr>
          <p:cNvPr id="20" name="SQL (MySQL) icon" descr="SQL (MySQL)"/>
          <p:cNvPicPr>
            <a:picLocks noChangeAspect="1"/>
          </p:cNvPicPr>
          <p:nvPr/>
        </p:nvPicPr>
        <p:blipFill>
          <a:blip r:embed="rId4"/>
          <a:stretch>
            <a:fillRect/>
          </a:stretch>
        </p:blipFill>
        <p:spPr>
          <a:xfrm>
            <a:off x="8585302" y="4214470"/>
            <a:ext cx="294437" cy="294437"/>
          </a:xfrm>
          <a:prstGeom prst="rect">
            <a:avLst/>
          </a:prstGeom>
        </p:spPr>
      </p:pic>
      <p:sp>
        <p:nvSpPr>
          <p:cNvPr id="21" name="Text 17"/>
          <p:cNvSpPr txBox="1"/>
          <p:nvPr/>
        </p:nvSpPr>
        <p:spPr>
          <a:xfrm>
            <a:off x="9235440" y="4023360"/>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SQL (MySQL)</a:t>
            </a:r>
            <a:endParaRPr lang="en-US" sz="1600" dirty="0"/>
          </a:p>
        </p:txBody>
      </p:sp>
      <p:sp>
        <p:nvSpPr>
          <p:cNvPr id="22" name="Text 18"/>
          <p:cNvSpPr txBox="1"/>
          <p:nvPr/>
        </p:nvSpPr>
        <p:spPr>
          <a:xfrm>
            <a:off x="9235440" y="4370832"/>
            <a:ext cx="2331720" cy="320040"/>
          </a:xfrm>
          <a:prstGeom prst="rect">
            <a:avLst/>
          </a:prstGeom>
          <a:noFill/>
          <a:ln/>
        </p:spPr>
        <p:txBody>
          <a:bodyPr wrap="square" lIns="0" tIns="0" rIns="0" bIns="0" rtlCol="0" anchor="ctr"/>
          <a:lstStyle/>
          <a:p>
            <a:pPr marL="0" indent="0">
              <a:buNone/>
            </a:pPr>
            <a:r>
              <a:rPr lang="en-US" sz="1400" dirty="0">
                <a:solidFill>
                  <a:schemeClr val="tx1"/>
                </a:solidFill>
              </a:rPr>
              <a:t>Joins, CASE, aggregation</a:t>
            </a:r>
            <a:endParaRPr lang="en-US" sz="1400" dirty="0"/>
          </a:p>
        </p:txBody>
      </p:sp>
      <p:sp>
        <p:nvSpPr>
          <p:cNvPr id="23" name="Tool card Python"/>
          <p:cNvSpPr/>
          <p:nvPr/>
        </p:nvSpPr>
        <p:spPr>
          <a:xfrm>
            <a:off x="4663440" y="5029200"/>
            <a:ext cx="3383280" cy="1051560"/>
          </a:xfrm>
          <a:prstGeom prst="roundRect">
            <a:avLst>
              <a:gd name="adj" fmla="val 10435"/>
            </a:avLst>
          </a:prstGeom>
          <a:solidFill>
            <a:schemeClr val="bg2"/>
          </a:solidFill>
          <a:ln w="12700">
            <a:solidFill>
              <a:schemeClr val="bg2"/>
            </a:solidFill>
            <a:prstDash val="solid"/>
          </a:ln>
        </p:spPr>
      </p:sp>
      <p:sp>
        <p:nvSpPr>
          <p:cNvPr id="24" name="Python circle"/>
          <p:cNvSpPr/>
          <p:nvPr/>
        </p:nvSpPr>
        <p:spPr>
          <a:xfrm>
            <a:off x="4846320" y="5230368"/>
            <a:ext cx="640080" cy="640080"/>
          </a:xfrm>
          <a:prstGeom prst="ellipse">
            <a:avLst/>
          </a:prstGeom>
          <a:solidFill>
            <a:srgbClr val="F2B134"/>
          </a:solidFill>
          <a:ln w="12700">
            <a:solidFill>
              <a:srgbClr val="F2B134"/>
            </a:solidFill>
            <a:prstDash val="solid"/>
          </a:ln>
        </p:spPr>
      </p:sp>
      <p:pic>
        <p:nvPicPr>
          <p:cNvPr id="25" name="Python icon" descr="Python"/>
          <p:cNvPicPr>
            <a:picLocks noChangeAspect="1"/>
          </p:cNvPicPr>
          <p:nvPr/>
        </p:nvPicPr>
        <p:blipFill>
          <a:blip r:embed="rId5"/>
          <a:stretch>
            <a:fillRect/>
          </a:stretch>
        </p:blipFill>
        <p:spPr>
          <a:xfrm>
            <a:off x="5019142" y="5403190"/>
            <a:ext cx="294437" cy="294437"/>
          </a:xfrm>
          <a:prstGeom prst="rect">
            <a:avLst/>
          </a:prstGeom>
        </p:spPr>
      </p:pic>
      <p:sp>
        <p:nvSpPr>
          <p:cNvPr id="26" name="Text 21"/>
          <p:cNvSpPr txBox="1"/>
          <p:nvPr/>
        </p:nvSpPr>
        <p:spPr>
          <a:xfrm>
            <a:off x="5669280" y="5212080"/>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Python</a:t>
            </a:r>
            <a:endParaRPr lang="en-US" sz="1600" dirty="0"/>
          </a:p>
        </p:txBody>
      </p:sp>
      <p:sp>
        <p:nvSpPr>
          <p:cNvPr id="27" name="Text 22"/>
          <p:cNvSpPr txBox="1"/>
          <p:nvPr/>
        </p:nvSpPr>
        <p:spPr>
          <a:xfrm>
            <a:off x="5669280" y="5559552"/>
            <a:ext cx="2331720" cy="320040"/>
          </a:xfrm>
          <a:prstGeom prst="rect">
            <a:avLst/>
          </a:prstGeom>
          <a:noFill/>
          <a:ln/>
        </p:spPr>
        <p:txBody>
          <a:bodyPr wrap="square" lIns="0" tIns="0" rIns="0" bIns="0" rtlCol="0" anchor="ctr"/>
          <a:lstStyle/>
          <a:p>
            <a:pPr marL="0" indent="0">
              <a:buNone/>
            </a:pPr>
            <a:r>
              <a:rPr lang="en-US" sz="1400" dirty="0">
                <a:solidFill>
                  <a:schemeClr val="tx1"/>
                </a:solidFill>
              </a:rPr>
              <a:t>pandas, SQLAlchemy, RFM</a:t>
            </a:r>
            <a:endParaRPr lang="en-US" sz="1400" dirty="0"/>
          </a:p>
        </p:txBody>
      </p:sp>
      <p:sp>
        <p:nvSpPr>
          <p:cNvPr id="28" name="Tool card Power BI"/>
          <p:cNvSpPr/>
          <p:nvPr/>
        </p:nvSpPr>
        <p:spPr>
          <a:xfrm>
            <a:off x="8229600" y="5029200"/>
            <a:ext cx="3383280" cy="1051560"/>
          </a:xfrm>
          <a:prstGeom prst="roundRect">
            <a:avLst>
              <a:gd name="adj" fmla="val 10435"/>
            </a:avLst>
          </a:prstGeom>
          <a:solidFill>
            <a:schemeClr val="bg2"/>
          </a:solidFill>
          <a:ln w="12700">
            <a:solidFill>
              <a:schemeClr val="bg2"/>
            </a:solidFill>
            <a:prstDash val="solid"/>
          </a:ln>
        </p:spPr>
      </p:sp>
      <p:sp>
        <p:nvSpPr>
          <p:cNvPr id="29" name="Power BI circle"/>
          <p:cNvSpPr/>
          <p:nvPr/>
        </p:nvSpPr>
        <p:spPr>
          <a:xfrm>
            <a:off x="8412480" y="5230368"/>
            <a:ext cx="640080" cy="640080"/>
          </a:xfrm>
          <a:prstGeom prst="ellipse">
            <a:avLst/>
          </a:prstGeom>
          <a:solidFill>
            <a:srgbClr val="F26B21"/>
          </a:solidFill>
          <a:ln w="12700">
            <a:solidFill>
              <a:srgbClr val="F26B21"/>
            </a:solidFill>
            <a:prstDash val="solid"/>
          </a:ln>
        </p:spPr>
      </p:sp>
      <p:pic>
        <p:nvPicPr>
          <p:cNvPr id="30" name="Power BI icon" descr="Power BI"/>
          <p:cNvPicPr>
            <a:picLocks noChangeAspect="1"/>
          </p:cNvPicPr>
          <p:nvPr/>
        </p:nvPicPr>
        <p:blipFill>
          <a:blip r:embed="rId6"/>
          <a:stretch>
            <a:fillRect/>
          </a:stretch>
        </p:blipFill>
        <p:spPr>
          <a:xfrm>
            <a:off x="8585302" y="5403190"/>
            <a:ext cx="294437" cy="294437"/>
          </a:xfrm>
          <a:prstGeom prst="rect">
            <a:avLst/>
          </a:prstGeom>
        </p:spPr>
      </p:pic>
      <p:sp>
        <p:nvSpPr>
          <p:cNvPr id="31" name="Text 25"/>
          <p:cNvSpPr txBox="1"/>
          <p:nvPr/>
        </p:nvSpPr>
        <p:spPr>
          <a:xfrm>
            <a:off x="9235440" y="5212080"/>
            <a:ext cx="2286000" cy="320040"/>
          </a:xfrm>
          <a:prstGeom prst="rect">
            <a:avLst/>
          </a:prstGeom>
          <a:noFill/>
          <a:ln/>
        </p:spPr>
        <p:txBody>
          <a:bodyPr wrap="square" lIns="0" tIns="0" rIns="0" bIns="0" rtlCol="0" anchor="ctr"/>
          <a:lstStyle/>
          <a:p>
            <a:pPr marL="0" indent="0">
              <a:buNone/>
            </a:pPr>
            <a:r>
              <a:rPr lang="en-US" sz="1600" b="1" dirty="0">
                <a:solidFill>
                  <a:schemeClr val="tx2"/>
                </a:solidFill>
              </a:rPr>
              <a:t>Power BI</a:t>
            </a:r>
            <a:endParaRPr lang="en-US" sz="1600" dirty="0"/>
          </a:p>
        </p:txBody>
      </p:sp>
      <p:sp>
        <p:nvSpPr>
          <p:cNvPr id="32" name="Text 26"/>
          <p:cNvSpPr txBox="1"/>
          <p:nvPr/>
        </p:nvSpPr>
        <p:spPr>
          <a:xfrm>
            <a:off x="9235440" y="5559552"/>
            <a:ext cx="2331720" cy="320040"/>
          </a:xfrm>
          <a:prstGeom prst="rect">
            <a:avLst/>
          </a:prstGeom>
          <a:noFill/>
          <a:ln/>
        </p:spPr>
        <p:txBody>
          <a:bodyPr wrap="square" lIns="0" tIns="0" rIns="0" bIns="0" rtlCol="0" anchor="ctr"/>
          <a:lstStyle/>
          <a:p>
            <a:pPr marL="0" indent="0">
              <a:buNone/>
            </a:pPr>
            <a:r>
              <a:rPr lang="en-US" sz="1400" dirty="0">
                <a:solidFill>
                  <a:schemeClr val="tx1"/>
                </a:solidFill>
              </a:rPr>
              <a:t>KPI cards, slicers, maps</a:t>
            </a:r>
            <a:endParaRPr lang="en-US" sz="1400" dirty="0"/>
          </a:p>
        </p:txBody>
      </p:sp>
      <p:sp>
        <p:nvSpPr>
          <p:cNvPr id="33"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Project Overview</a:t>
            </a:r>
            <a:endParaRPr lang="en-US" sz="3400" dirty="0"/>
          </a:p>
        </p:txBody>
      </p:sp>
      <p:sp>
        <p:nvSpPr>
          <p:cNvPr id="3" name="Text 1"/>
          <p:cNvSpPr txBox="1"/>
          <p:nvPr/>
        </p:nvSpPr>
        <p:spPr>
          <a:xfrm>
            <a:off x="548640" y="1463040"/>
            <a:ext cx="4846320" cy="411480"/>
          </a:xfrm>
          <a:prstGeom prst="rect">
            <a:avLst/>
          </a:prstGeom>
          <a:noFill/>
          <a:ln/>
        </p:spPr>
        <p:txBody>
          <a:bodyPr wrap="square" lIns="0" tIns="0" rIns="0" bIns="0" rtlCol="0" anchor="ctr"/>
          <a:lstStyle/>
          <a:p>
            <a:pPr marL="0" indent="0">
              <a:buNone/>
            </a:pPr>
            <a:r>
              <a:rPr lang="en-US" sz="2200" b="1" dirty="0">
                <a:solidFill>
                  <a:schemeClr val="tx2"/>
                </a:solidFill>
              </a:rPr>
              <a:t>Business objective</a:t>
            </a:r>
            <a:endParaRPr lang="en-US" sz="2200" dirty="0"/>
          </a:p>
        </p:txBody>
      </p:sp>
      <p:sp>
        <p:nvSpPr>
          <p:cNvPr id="4" name="Text 2"/>
          <p:cNvSpPr txBox="1"/>
          <p:nvPr/>
        </p:nvSpPr>
        <p:spPr>
          <a:xfrm>
            <a:off x="548640" y="1920240"/>
            <a:ext cx="4846320" cy="822960"/>
          </a:xfrm>
          <a:prstGeom prst="rect">
            <a:avLst/>
          </a:prstGeom>
          <a:noFill/>
          <a:ln/>
        </p:spPr>
        <p:txBody>
          <a:bodyPr wrap="square" lIns="0" tIns="0" rIns="0" bIns="0" rtlCol="0" anchor="t"/>
          <a:lstStyle/>
          <a:p>
            <a:pPr marL="0" indent="0">
              <a:buNone/>
            </a:pPr>
            <a:r>
              <a:rPr lang="en-US" sz="1600" dirty="0">
                <a:solidFill>
                  <a:schemeClr val="tx1"/>
                </a:solidFill>
              </a:rPr>
              <a:t>A three-store bicycle retailer needs one connected view of its sales, customers, staff and stock.</a:t>
            </a:r>
            <a:endParaRPr lang="en-US" sz="1600" dirty="0"/>
          </a:p>
        </p:txBody>
      </p:sp>
      <p:sp>
        <p:nvSpPr>
          <p:cNvPr id="5" name="Text 3"/>
          <p:cNvSpPr txBox="1"/>
          <p:nvPr/>
        </p:nvSpPr>
        <p:spPr>
          <a:xfrm>
            <a:off x="548640" y="2926080"/>
            <a:ext cx="4846320" cy="411480"/>
          </a:xfrm>
          <a:prstGeom prst="rect">
            <a:avLst/>
          </a:prstGeom>
          <a:noFill/>
          <a:ln/>
        </p:spPr>
        <p:txBody>
          <a:bodyPr wrap="square" lIns="0" tIns="0" rIns="0" bIns="0" rtlCol="0" anchor="ctr"/>
          <a:lstStyle/>
          <a:p>
            <a:pPr marL="0" indent="0">
              <a:buNone/>
            </a:pPr>
            <a:r>
              <a:rPr lang="en-US" sz="2200" b="1" dirty="0">
                <a:solidFill>
                  <a:schemeClr val="tx2"/>
                </a:solidFill>
              </a:rPr>
              <a:t>Questions answered</a:t>
            </a:r>
            <a:endParaRPr lang="en-US" sz="2200" dirty="0"/>
          </a:p>
        </p:txBody>
      </p:sp>
      <p:sp>
        <p:nvSpPr>
          <p:cNvPr id="6" name="Question 1 circle"/>
          <p:cNvSpPr/>
          <p:nvPr/>
        </p:nvSpPr>
        <p:spPr>
          <a:xfrm>
            <a:off x="548640" y="3520440"/>
            <a:ext cx="640080" cy="640080"/>
          </a:xfrm>
          <a:prstGeom prst="ellipse">
            <a:avLst/>
          </a:prstGeom>
          <a:solidFill>
            <a:srgbClr val="1F7A8C"/>
          </a:solidFill>
          <a:ln w="12700">
            <a:solidFill>
              <a:srgbClr val="1F7A8C"/>
            </a:solidFill>
            <a:prstDash val="solid"/>
          </a:ln>
        </p:spPr>
      </p:sp>
      <p:pic>
        <p:nvPicPr>
          <p:cNvPr id="7" name="Question 1 icon" descr="Question 1"/>
          <p:cNvPicPr>
            <a:picLocks noChangeAspect="1"/>
          </p:cNvPicPr>
          <p:nvPr/>
        </p:nvPicPr>
        <p:blipFill>
          <a:blip r:embed="rId3"/>
          <a:stretch>
            <a:fillRect/>
          </a:stretch>
        </p:blipFill>
        <p:spPr>
          <a:xfrm>
            <a:off x="721462" y="3693262"/>
            <a:ext cx="294437" cy="294437"/>
          </a:xfrm>
          <a:prstGeom prst="rect">
            <a:avLst/>
          </a:prstGeom>
        </p:spPr>
      </p:pic>
      <p:sp>
        <p:nvSpPr>
          <p:cNvPr id="8" name="Text 5"/>
          <p:cNvSpPr txBox="1"/>
          <p:nvPr/>
        </p:nvSpPr>
        <p:spPr>
          <a:xfrm>
            <a:off x="1371600" y="3520440"/>
            <a:ext cx="4023360" cy="640080"/>
          </a:xfrm>
          <a:prstGeom prst="rect">
            <a:avLst/>
          </a:prstGeom>
          <a:noFill/>
          <a:ln/>
        </p:spPr>
        <p:txBody>
          <a:bodyPr wrap="square" lIns="0" tIns="0" rIns="0" bIns="0" rtlCol="0" anchor="ctr"/>
          <a:lstStyle/>
          <a:p>
            <a:pPr marL="0" indent="0">
              <a:buNone/>
            </a:pPr>
            <a:r>
              <a:rPr lang="en-US" sz="1600" dirty="0">
                <a:solidFill>
                  <a:schemeClr val="tx1"/>
                </a:solidFill>
              </a:rPr>
              <a:t>Which stores and products drive revenue?</a:t>
            </a:r>
            <a:endParaRPr lang="en-US" sz="1600" dirty="0"/>
          </a:p>
        </p:txBody>
      </p:sp>
      <p:sp>
        <p:nvSpPr>
          <p:cNvPr id="9" name="Question 2 circle"/>
          <p:cNvSpPr/>
          <p:nvPr/>
        </p:nvSpPr>
        <p:spPr>
          <a:xfrm>
            <a:off x="548640" y="4389120"/>
            <a:ext cx="640080" cy="640080"/>
          </a:xfrm>
          <a:prstGeom prst="ellipse">
            <a:avLst/>
          </a:prstGeom>
          <a:solidFill>
            <a:srgbClr val="F26B21"/>
          </a:solidFill>
          <a:ln w="12700">
            <a:solidFill>
              <a:srgbClr val="F26B21"/>
            </a:solidFill>
            <a:prstDash val="solid"/>
          </a:ln>
        </p:spPr>
      </p:sp>
      <p:pic>
        <p:nvPicPr>
          <p:cNvPr id="10" name="Question 2 icon" descr="Question 2"/>
          <p:cNvPicPr>
            <a:picLocks noChangeAspect="1"/>
          </p:cNvPicPr>
          <p:nvPr/>
        </p:nvPicPr>
        <p:blipFill>
          <a:blip r:embed="rId4"/>
          <a:stretch>
            <a:fillRect/>
          </a:stretch>
        </p:blipFill>
        <p:spPr>
          <a:xfrm>
            <a:off x="721462" y="4561942"/>
            <a:ext cx="294437" cy="294437"/>
          </a:xfrm>
          <a:prstGeom prst="rect">
            <a:avLst/>
          </a:prstGeom>
        </p:spPr>
      </p:pic>
      <p:sp>
        <p:nvSpPr>
          <p:cNvPr id="11" name="Text 7"/>
          <p:cNvSpPr txBox="1"/>
          <p:nvPr/>
        </p:nvSpPr>
        <p:spPr>
          <a:xfrm>
            <a:off x="1371600" y="4389120"/>
            <a:ext cx="4023360" cy="640080"/>
          </a:xfrm>
          <a:prstGeom prst="rect">
            <a:avLst/>
          </a:prstGeom>
          <a:noFill/>
          <a:ln/>
        </p:spPr>
        <p:txBody>
          <a:bodyPr wrap="square" lIns="0" tIns="0" rIns="0" bIns="0" rtlCol="0" anchor="ctr"/>
          <a:lstStyle/>
          <a:p>
            <a:pPr marL="0" indent="0">
              <a:buNone/>
            </a:pPr>
            <a:r>
              <a:rPr lang="en-US" sz="1600" dirty="0">
                <a:solidFill>
                  <a:schemeClr val="tx1"/>
                </a:solidFill>
              </a:rPr>
              <a:t>Who are the most valuable customers?</a:t>
            </a:r>
            <a:endParaRPr lang="en-US" sz="1600" dirty="0"/>
          </a:p>
        </p:txBody>
      </p:sp>
      <p:sp>
        <p:nvSpPr>
          <p:cNvPr id="12" name="Question 3 circle"/>
          <p:cNvSpPr/>
          <p:nvPr/>
        </p:nvSpPr>
        <p:spPr>
          <a:xfrm>
            <a:off x="548640" y="5257800"/>
            <a:ext cx="640080" cy="640080"/>
          </a:xfrm>
          <a:prstGeom prst="ellipse">
            <a:avLst/>
          </a:prstGeom>
          <a:solidFill>
            <a:srgbClr val="2E9E6B"/>
          </a:solidFill>
          <a:ln w="12700">
            <a:solidFill>
              <a:srgbClr val="2E9E6B"/>
            </a:solidFill>
            <a:prstDash val="solid"/>
          </a:ln>
        </p:spPr>
      </p:sp>
      <p:pic>
        <p:nvPicPr>
          <p:cNvPr id="13" name="Question 3 icon" descr="Question 3"/>
          <p:cNvPicPr>
            <a:picLocks noChangeAspect="1"/>
          </p:cNvPicPr>
          <p:nvPr/>
        </p:nvPicPr>
        <p:blipFill>
          <a:blip r:embed="rId5"/>
          <a:stretch>
            <a:fillRect/>
          </a:stretch>
        </p:blipFill>
        <p:spPr>
          <a:xfrm>
            <a:off x="721462" y="5430622"/>
            <a:ext cx="294437" cy="294437"/>
          </a:xfrm>
          <a:prstGeom prst="rect">
            <a:avLst/>
          </a:prstGeom>
        </p:spPr>
      </p:pic>
      <p:sp>
        <p:nvSpPr>
          <p:cNvPr id="14" name="Text 9"/>
          <p:cNvSpPr txBox="1"/>
          <p:nvPr/>
        </p:nvSpPr>
        <p:spPr>
          <a:xfrm>
            <a:off x="1371600" y="5257800"/>
            <a:ext cx="4023360" cy="640080"/>
          </a:xfrm>
          <a:prstGeom prst="rect">
            <a:avLst/>
          </a:prstGeom>
          <a:noFill/>
          <a:ln/>
        </p:spPr>
        <p:txBody>
          <a:bodyPr wrap="square" lIns="0" tIns="0" rIns="0" bIns="0" rtlCol="0" anchor="ctr"/>
          <a:lstStyle/>
          <a:p>
            <a:pPr marL="0" indent="0">
              <a:buNone/>
            </a:pPr>
            <a:r>
              <a:rPr lang="en-US" sz="1600" dirty="0">
                <a:solidFill>
                  <a:schemeClr val="tx1"/>
                </a:solidFill>
              </a:rPr>
              <a:t>Which items are running low on stock?</a:t>
            </a:r>
            <a:endParaRPr lang="en-US" sz="1600" dirty="0"/>
          </a:p>
        </p:txBody>
      </p:sp>
      <p:sp>
        <p:nvSpPr>
          <p:cNvPr id="15" name="Stat card Total revenue"/>
          <p:cNvSpPr/>
          <p:nvPr/>
        </p:nvSpPr>
        <p:spPr>
          <a:xfrm>
            <a:off x="5852160" y="1554480"/>
            <a:ext cx="1783080" cy="2011680"/>
          </a:xfrm>
          <a:prstGeom prst="roundRect">
            <a:avLst>
              <a:gd name="adj" fmla="val 6154"/>
            </a:avLst>
          </a:prstGeom>
          <a:solidFill>
            <a:schemeClr val="bg2"/>
          </a:solidFill>
          <a:ln w="12700">
            <a:solidFill>
              <a:schemeClr val="bg2"/>
            </a:solidFill>
            <a:prstDash val="solid"/>
          </a:ln>
        </p:spPr>
      </p:sp>
      <p:sp>
        <p:nvSpPr>
          <p:cNvPr id="16" name="Total revenue circle"/>
          <p:cNvSpPr/>
          <p:nvPr/>
        </p:nvSpPr>
        <p:spPr>
          <a:xfrm>
            <a:off x="6035040" y="1737360"/>
            <a:ext cx="502920" cy="502920"/>
          </a:xfrm>
          <a:prstGeom prst="ellipse">
            <a:avLst/>
          </a:prstGeom>
          <a:solidFill>
            <a:srgbClr val="2E9E6B"/>
          </a:solidFill>
          <a:ln w="12700">
            <a:solidFill>
              <a:srgbClr val="2E9E6B"/>
            </a:solidFill>
            <a:prstDash val="solid"/>
          </a:ln>
        </p:spPr>
      </p:sp>
      <p:pic>
        <p:nvPicPr>
          <p:cNvPr id="17" name="Total revenue icon" descr="Total revenue"/>
          <p:cNvPicPr>
            <a:picLocks noChangeAspect="1"/>
          </p:cNvPicPr>
          <p:nvPr/>
        </p:nvPicPr>
        <p:blipFill>
          <a:blip r:embed="rId6"/>
          <a:stretch>
            <a:fillRect/>
          </a:stretch>
        </p:blipFill>
        <p:spPr>
          <a:xfrm>
            <a:off x="6170828" y="1873148"/>
            <a:ext cx="231343" cy="231343"/>
          </a:xfrm>
          <a:prstGeom prst="rect">
            <a:avLst/>
          </a:prstGeom>
        </p:spPr>
      </p:pic>
      <p:sp>
        <p:nvSpPr>
          <p:cNvPr id="18" name="Text 12"/>
          <p:cNvSpPr txBox="1"/>
          <p:nvPr/>
        </p:nvSpPr>
        <p:spPr>
          <a:xfrm>
            <a:off x="6035040" y="2377440"/>
            <a:ext cx="1554480" cy="548640"/>
          </a:xfrm>
          <a:prstGeom prst="rect">
            <a:avLst/>
          </a:prstGeom>
          <a:noFill/>
          <a:ln/>
        </p:spPr>
        <p:txBody>
          <a:bodyPr wrap="square" lIns="0" tIns="0" rIns="0" bIns="0" rtlCol="0" anchor="ctr"/>
          <a:lstStyle/>
          <a:p>
            <a:pPr marL="0" indent="0">
              <a:buNone/>
            </a:pPr>
            <a:r>
              <a:rPr lang="en-US" sz="3000" b="1" dirty="0">
                <a:solidFill>
                  <a:schemeClr val="tx2"/>
                </a:solidFill>
              </a:rPr>
              <a:t>$8.58M</a:t>
            </a:r>
            <a:endParaRPr lang="en-US" sz="3000" dirty="0"/>
          </a:p>
        </p:txBody>
      </p:sp>
      <p:sp>
        <p:nvSpPr>
          <p:cNvPr id="19" name="Text 13"/>
          <p:cNvSpPr txBox="1"/>
          <p:nvPr/>
        </p:nvSpPr>
        <p:spPr>
          <a:xfrm>
            <a:off x="6035040" y="2926080"/>
            <a:ext cx="1508760" cy="502920"/>
          </a:xfrm>
          <a:prstGeom prst="rect">
            <a:avLst/>
          </a:prstGeom>
          <a:noFill/>
          <a:ln/>
        </p:spPr>
        <p:txBody>
          <a:bodyPr wrap="square" lIns="0" tIns="0" rIns="0" bIns="0" rtlCol="0" anchor="t"/>
          <a:lstStyle/>
          <a:p>
            <a:pPr marL="0" indent="0">
              <a:buNone/>
            </a:pPr>
            <a:r>
              <a:rPr lang="en-US" sz="1400" dirty="0">
                <a:solidFill>
                  <a:schemeClr val="tx1"/>
                </a:solidFill>
              </a:rPr>
              <a:t>Total revenue</a:t>
            </a:r>
            <a:endParaRPr lang="en-US" sz="1400" dirty="0"/>
          </a:p>
        </p:txBody>
      </p:sp>
      <p:sp>
        <p:nvSpPr>
          <p:cNvPr id="20" name="Stat card Orders"/>
          <p:cNvSpPr/>
          <p:nvPr/>
        </p:nvSpPr>
        <p:spPr>
          <a:xfrm>
            <a:off x="7818120" y="1554480"/>
            <a:ext cx="1783080" cy="2011680"/>
          </a:xfrm>
          <a:prstGeom prst="roundRect">
            <a:avLst>
              <a:gd name="adj" fmla="val 6154"/>
            </a:avLst>
          </a:prstGeom>
          <a:solidFill>
            <a:schemeClr val="bg2"/>
          </a:solidFill>
          <a:ln w="12700">
            <a:solidFill>
              <a:schemeClr val="bg2"/>
            </a:solidFill>
            <a:prstDash val="solid"/>
          </a:ln>
        </p:spPr>
      </p:sp>
      <p:sp>
        <p:nvSpPr>
          <p:cNvPr id="21" name="Orders circle"/>
          <p:cNvSpPr/>
          <p:nvPr/>
        </p:nvSpPr>
        <p:spPr>
          <a:xfrm>
            <a:off x="8001000" y="1737360"/>
            <a:ext cx="502920" cy="502920"/>
          </a:xfrm>
          <a:prstGeom prst="ellipse">
            <a:avLst/>
          </a:prstGeom>
          <a:solidFill>
            <a:srgbClr val="1F7A8C"/>
          </a:solidFill>
          <a:ln w="12700">
            <a:solidFill>
              <a:srgbClr val="1F7A8C"/>
            </a:solidFill>
            <a:prstDash val="solid"/>
          </a:ln>
        </p:spPr>
      </p:sp>
      <p:pic>
        <p:nvPicPr>
          <p:cNvPr id="22" name="Orders icon" descr="Orders"/>
          <p:cNvPicPr>
            <a:picLocks noChangeAspect="1"/>
          </p:cNvPicPr>
          <p:nvPr/>
        </p:nvPicPr>
        <p:blipFill>
          <a:blip r:embed="rId7"/>
          <a:stretch>
            <a:fillRect/>
          </a:stretch>
        </p:blipFill>
        <p:spPr>
          <a:xfrm>
            <a:off x="8136788" y="1873148"/>
            <a:ext cx="231343" cy="231343"/>
          </a:xfrm>
          <a:prstGeom prst="rect">
            <a:avLst/>
          </a:prstGeom>
        </p:spPr>
      </p:pic>
      <p:sp>
        <p:nvSpPr>
          <p:cNvPr id="23" name="Text 16"/>
          <p:cNvSpPr txBox="1"/>
          <p:nvPr/>
        </p:nvSpPr>
        <p:spPr>
          <a:xfrm>
            <a:off x="8001000" y="2377440"/>
            <a:ext cx="1554480" cy="548640"/>
          </a:xfrm>
          <a:prstGeom prst="rect">
            <a:avLst/>
          </a:prstGeom>
          <a:noFill/>
          <a:ln/>
        </p:spPr>
        <p:txBody>
          <a:bodyPr wrap="square" lIns="0" tIns="0" rIns="0" bIns="0" rtlCol="0" anchor="ctr"/>
          <a:lstStyle/>
          <a:p>
            <a:pPr marL="0" indent="0">
              <a:buNone/>
            </a:pPr>
            <a:r>
              <a:rPr lang="en-US" sz="3000" b="1" dirty="0">
                <a:solidFill>
                  <a:schemeClr val="tx2"/>
                </a:solidFill>
              </a:rPr>
              <a:t>1,615</a:t>
            </a:r>
            <a:endParaRPr lang="en-US" sz="3000" dirty="0"/>
          </a:p>
        </p:txBody>
      </p:sp>
      <p:sp>
        <p:nvSpPr>
          <p:cNvPr id="24" name="Text 17"/>
          <p:cNvSpPr txBox="1"/>
          <p:nvPr/>
        </p:nvSpPr>
        <p:spPr>
          <a:xfrm>
            <a:off x="8001000" y="2926080"/>
            <a:ext cx="1508760" cy="502920"/>
          </a:xfrm>
          <a:prstGeom prst="rect">
            <a:avLst/>
          </a:prstGeom>
          <a:noFill/>
          <a:ln/>
        </p:spPr>
        <p:txBody>
          <a:bodyPr wrap="square" lIns="0" tIns="0" rIns="0" bIns="0" rtlCol="0" anchor="t"/>
          <a:lstStyle/>
          <a:p>
            <a:pPr marL="0" indent="0">
              <a:buNone/>
            </a:pPr>
            <a:r>
              <a:rPr lang="en-US" sz="1400" dirty="0">
                <a:solidFill>
                  <a:schemeClr val="tx1"/>
                </a:solidFill>
              </a:rPr>
              <a:t>Orders</a:t>
            </a:r>
            <a:endParaRPr lang="en-US" sz="1400" dirty="0"/>
          </a:p>
        </p:txBody>
      </p:sp>
      <p:sp>
        <p:nvSpPr>
          <p:cNvPr id="25" name="Stat card Customers"/>
          <p:cNvSpPr/>
          <p:nvPr/>
        </p:nvSpPr>
        <p:spPr>
          <a:xfrm>
            <a:off x="9784080" y="1554480"/>
            <a:ext cx="1783080" cy="2011680"/>
          </a:xfrm>
          <a:prstGeom prst="roundRect">
            <a:avLst>
              <a:gd name="adj" fmla="val 6154"/>
            </a:avLst>
          </a:prstGeom>
          <a:solidFill>
            <a:schemeClr val="bg2"/>
          </a:solidFill>
          <a:ln w="12700">
            <a:solidFill>
              <a:schemeClr val="bg2"/>
            </a:solidFill>
            <a:prstDash val="solid"/>
          </a:ln>
        </p:spPr>
      </p:sp>
      <p:sp>
        <p:nvSpPr>
          <p:cNvPr id="26" name="Customers circle"/>
          <p:cNvSpPr/>
          <p:nvPr/>
        </p:nvSpPr>
        <p:spPr>
          <a:xfrm>
            <a:off x="9966960" y="1737360"/>
            <a:ext cx="502920" cy="502920"/>
          </a:xfrm>
          <a:prstGeom prst="ellipse">
            <a:avLst/>
          </a:prstGeom>
          <a:solidFill>
            <a:srgbClr val="F26B21"/>
          </a:solidFill>
          <a:ln w="12700">
            <a:solidFill>
              <a:srgbClr val="F26B21"/>
            </a:solidFill>
            <a:prstDash val="solid"/>
          </a:ln>
        </p:spPr>
      </p:sp>
      <p:pic>
        <p:nvPicPr>
          <p:cNvPr id="27" name="Customers icon" descr="Customers"/>
          <p:cNvPicPr>
            <a:picLocks noChangeAspect="1"/>
          </p:cNvPicPr>
          <p:nvPr/>
        </p:nvPicPr>
        <p:blipFill>
          <a:blip r:embed="rId4"/>
          <a:stretch>
            <a:fillRect/>
          </a:stretch>
        </p:blipFill>
        <p:spPr>
          <a:xfrm>
            <a:off x="10102748" y="1873148"/>
            <a:ext cx="231343" cy="231343"/>
          </a:xfrm>
          <a:prstGeom prst="rect">
            <a:avLst/>
          </a:prstGeom>
        </p:spPr>
      </p:pic>
      <p:sp>
        <p:nvSpPr>
          <p:cNvPr id="28" name="Text 20"/>
          <p:cNvSpPr txBox="1"/>
          <p:nvPr/>
        </p:nvSpPr>
        <p:spPr>
          <a:xfrm>
            <a:off x="9966960" y="2377440"/>
            <a:ext cx="1554480" cy="548640"/>
          </a:xfrm>
          <a:prstGeom prst="rect">
            <a:avLst/>
          </a:prstGeom>
          <a:noFill/>
          <a:ln/>
        </p:spPr>
        <p:txBody>
          <a:bodyPr wrap="square" lIns="0" tIns="0" rIns="0" bIns="0" rtlCol="0" anchor="ctr"/>
          <a:lstStyle/>
          <a:p>
            <a:pPr marL="0" indent="0">
              <a:buNone/>
            </a:pPr>
            <a:r>
              <a:rPr lang="en-US" sz="3000" b="1" dirty="0">
                <a:solidFill>
                  <a:schemeClr val="tx2"/>
                </a:solidFill>
              </a:rPr>
              <a:t>1,445</a:t>
            </a:r>
            <a:endParaRPr lang="en-US" sz="3000" dirty="0"/>
          </a:p>
        </p:txBody>
      </p:sp>
      <p:sp>
        <p:nvSpPr>
          <p:cNvPr id="29" name="Text 21"/>
          <p:cNvSpPr txBox="1"/>
          <p:nvPr/>
        </p:nvSpPr>
        <p:spPr>
          <a:xfrm>
            <a:off x="9966960" y="2926080"/>
            <a:ext cx="1508760" cy="502920"/>
          </a:xfrm>
          <a:prstGeom prst="rect">
            <a:avLst/>
          </a:prstGeom>
          <a:noFill/>
          <a:ln/>
        </p:spPr>
        <p:txBody>
          <a:bodyPr wrap="square" lIns="0" tIns="0" rIns="0" bIns="0" rtlCol="0" anchor="t"/>
          <a:lstStyle/>
          <a:p>
            <a:pPr marL="0" indent="0">
              <a:buNone/>
            </a:pPr>
            <a:r>
              <a:rPr lang="en-US" sz="1400" dirty="0">
                <a:solidFill>
                  <a:schemeClr val="tx1"/>
                </a:solidFill>
              </a:rPr>
              <a:t>Customers</a:t>
            </a:r>
            <a:endParaRPr lang="en-US" sz="1400" dirty="0"/>
          </a:p>
        </p:txBody>
      </p:sp>
      <p:sp>
        <p:nvSpPr>
          <p:cNvPr id="30" name="Stat card Products"/>
          <p:cNvSpPr/>
          <p:nvPr/>
        </p:nvSpPr>
        <p:spPr>
          <a:xfrm>
            <a:off x="5852160" y="3749040"/>
            <a:ext cx="1783080" cy="2011680"/>
          </a:xfrm>
          <a:prstGeom prst="roundRect">
            <a:avLst>
              <a:gd name="adj" fmla="val 6154"/>
            </a:avLst>
          </a:prstGeom>
          <a:solidFill>
            <a:schemeClr val="bg2"/>
          </a:solidFill>
          <a:ln w="12700">
            <a:solidFill>
              <a:schemeClr val="bg2"/>
            </a:solidFill>
            <a:prstDash val="solid"/>
          </a:ln>
        </p:spPr>
      </p:sp>
      <p:sp>
        <p:nvSpPr>
          <p:cNvPr id="31" name="Products circle"/>
          <p:cNvSpPr/>
          <p:nvPr/>
        </p:nvSpPr>
        <p:spPr>
          <a:xfrm>
            <a:off x="6035040" y="3931920"/>
            <a:ext cx="502920" cy="502920"/>
          </a:xfrm>
          <a:prstGeom prst="ellipse">
            <a:avLst/>
          </a:prstGeom>
          <a:solidFill>
            <a:srgbClr val="1F7A8C"/>
          </a:solidFill>
          <a:ln w="12700">
            <a:solidFill>
              <a:srgbClr val="1F7A8C"/>
            </a:solidFill>
            <a:prstDash val="solid"/>
          </a:ln>
        </p:spPr>
      </p:sp>
      <p:pic>
        <p:nvPicPr>
          <p:cNvPr id="32" name="Products icon" descr="Products"/>
          <p:cNvPicPr>
            <a:picLocks noChangeAspect="1"/>
          </p:cNvPicPr>
          <p:nvPr/>
        </p:nvPicPr>
        <p:blipFill>
          <a:blip r:embed="rId8"/>
          <a:stretch>
            <a:fillRect/>
          </a:stretch>
        </p:blipFill>
        <p:spPr>
          <a:xfrm>
            <a:off x="6170828" y="4067708"/>
            <a:ext cx="231343" cy="231343"/>
          </a:xfrm>
          <a:prstGeom prst="rect">
            <a:avLst/>
          </a:prstGeom>
        </p:spPr>
      </p:pic>
      <p:sp>
        <p:nvSpPr>
          <p:cNvPr id="33" name="Text 24"/>
          <p:cNvSpPr txBox="1"/>
          <p:nvPr/>
        </p:nvSpPr>
        <p:spPr>
          <a:xfrm>
            <a:off x="6035040" y="4572000"/>
            <a:ext cx="1554480" cy="548640"/>
          </a:xfrm>
          <a:prstGeom prst="rect">
            <a:avLst/>
          </a:prstGeom>
          <a:noFill/>
          <a:ln/>
        </p:spPr>
        <p:txBody>
          <a:bodyPr wrap="square" lIns="0" tIns="0" rIns="0" bIns="0" rtlCol="0" anchor="ctr"/>
          <a:lstStyle/>
          <a:p>
            <a:pPr marL="0" indent="0">
              <a:buNone/>
            </a:pPr>
            <a:r>
              <a:rPr lang="en-US" sz="3000" b="1" dirty="0">
                <a:solidFill>
                  <a:schemeClr val="tx2"/>
                </a:solidFill>
              </a:rPr>
              <a:t>321</a:t>
            </a:r>
            <a:endParaRPr lang="en-US" sz="3000" dirty="0"/>
          </a:p>
        </p:txBody>
      </p:sp>
      <p:sp>
        <p:nvSpPr>
          <p:cNvPr id="34" name="Text 25"/>
          <p:cNvSpPr txBox="1"/>
          <p:nvPr/>
        </p:nvSpPr>
        <p:spPr>
          <a:xfrm>
            <a:off x="6035040" y="5120640"/>
            <a:ext cx="1508760" cy="502920"/>
          </a:xfrm>
          <a:prstGeom prst="rect">
            <a:avLst/>
          </a:prstGeom>
          <a:noFill/>
          <a:ln/>
        </p:spPr>
        <p:txBody>
          <a:bodyPr wrap="square" lIns="0" tIns="0" rIns="0" bIns="0" rtlCol="0" anchor="t"/>
          <a:lstStyle/>
          <a:p>
            <a:pPr marL="0" indent="0">
              <a:buNone/>
            </a:pPr>
            <a:r>
              <a:rPr lang="en-US" sz="1400" dirty="0">
                <a:solidFill>
                  <a:schemeClr val="tx1"/>
                </a:solidFill>
              </a:rPr>
              <a:t>Products</a:t>
            </a:r>
            <a:endParaRPr lang="en-US" sz="1400" dirty="0"/>
          </a:p>
        </p:txBody>
      </p:sp>
      <p:sp>
        <p:nvSpPr>
          <p:cNvPr id="35" name="Stat card Stores: CA, NY, TX"/>
          <p:cNvSpPr/>
          <p:nvPr/>
        </p:nvSpPr>
        <p:spPr>
          <a:xfrm>
            <a:off x="7818120" y="3749040"/>
            <a:ext cx="1783080" cy="2011680"/>
          </a:xfrm>
          <a:prstGeom prst="roundRect">
            <a:avLst>
              <a:gd name="adj" fmla="val 6154"/>
            </a:avLst>
          </a:prstGeom>
          <a:solidFill>
            <a:schemeClr val="bg2"/>
          </a:solidFill>
          <a:ln w="12700">
            <a:solidFill>
              <a:schemeClr val="bg2"/>
            </a:solidFill>
            <a:prstDash val="solid"/>
          </a:ln>
        </p:spPr>
      </p:sp>
      <p:sp>
        <p:nvSpPr>
          <p:cNvPr id="36" name="Stores: CA, NY, TX circle"/>
          <p:cNvSpPr/>
          <p:nvPr/>
        </p:nvSpPr>
        <p:spPr>
          <a:xfrm>
            <a:off x="8001000" y="3931920"/>
            <a:ext cx="502920" cy="502920"/>
          </a:xfrm>
          <a:prstGeom prst="ellipse">
            <a:avLst/>
          </a:prstGeom>
          <a:solidFill>
            <a:srgbClr val="2E9E6B"/>
          </a:solidFill>
          <a:ln w="12700">
            <a:solidFill>
              <a:srgbClr val="2E9E6B"/>
            </a:solidFill>
            <a:prstDash val="solid"/>
          </a:ln>
        </p:spPr>
      </p:sp>
      <p:pic>
        <p:nvPicPr>
          <p:cNvPr id="37" name="Stores: CA, NY, TX icon" descr="Stores: CA, NY, TX"/>
          <p:cNvPicPr>
            <a:picLocks noChangeAspect="1"/>
          </p:cNvPicPr>
          <p:nvPr/>
        </p:nvPicPr>
        <p:blipFill>
          <a:blip r:embed="rId3"/>
          <a:stretch>
            <a:fillRect/>
          </a:stretch>
        </p:blipFill>
        <p:spPr>
          <a:xfrm>
            <a:off x="8136788" y="4067708"/>
            <a:ext cx="231343" cy="231343"/>
          </a:xfrm>
          <a:prstGeom prst="rect">
            <a:avLst/>
          </a:prstGeom>
        </p:spPr>
      </p:pic>
      <p:sp>
        <p:nvSpPr>
          <p:cNvPr id="38" name="Text 28"/>
          <p:cNvSpPr txBox="1"/>
          <p:nvPr/>
        </p:nvSpPr>
        <p:spPr>
          <a:xfrm>
            <a:off x="8001000" y="4572000"/>
            <a:ext cx="1554480" cy="548640"/>
          </a:xfrm>
          <a:prstGeom prst="rect">
            <a:avLst/>
          </a:prstGeom>
          <a:noFill/>
          <a:ln/>
        </p:spPr>
        <p:txBody>
          <a:bodyPr wrap="square" lIns="0" tIns="0" rIns="0" bIns="0" rtlCol="0" anchor="ctr"/>
          <a:lstStyle/>
          <a:p>
            <a:pPr marL="0" indent="0">
              <a:buNone/>
            </a:pPr>
            <a:r>
              <a:rPr lang="en-US" sz="3000" b="1" dirty="0">
                <a:solidFill>
                  <a:schemeClr val="tx2"/>
                </a:solidFill>
              </a:rPr>
              <a:t>3</a:t>
            </a:r>
            <a:endParaRPr lang="en-US" sz="3000" dirty="0"/>
          </a:p>
        </p:txBody>
      </p:sp>
      <p:sp>
        <p:nvSpPr>
          <p:cNvPr id="39" name="Text 29"/>
          <p:cNvSpPr txBox="1"/>
          <p:nvPr/>
        </p:nvSpPr>
        <p:spPr>
          <a:xfrm>
            <a:off x="8001000" y="5120640"/>
            <a:ext cx="1508760" cy="502920"/>
          </a:xfrm>
          <a:prstGeom prst="rect">
            <a:avLst/>
          </a:prstGeom>
          <a:noFill/>
          <a:ln/>
        </p:spPr>
        <p:txBody>
          <a:bodyPr wrap="square" lIns="0" tIns="0" rIns="0" bIns="0" rtlCol="0" anchor="t"/>
          <a:lstStyle/>
          <a:p>
            <a:pPr marL="0" indent="0">
              <a:buNone/>
            </a:pPr>
            <a:r>
              <a:rPr lang="en-US" sz="1400" dirty="0">
                <a:solidFill>
                  <a:schemeClr val="tx1"/>
                </a:solidFill>
              </a:rPr>
              <a:t>Stores: CA, NY, TX</a:t>
            </a:r>
            <a:endParaRPr lang="en-US" sz="1400" dirty="0"/>
          </a:p>
        </p:txBody>
      </p:sp>
      <p:sp>
        <p:nvSpPr>
          <p:cNvPr id="40" name="Stat card Order period"/>
          <p:cNvSpPr/>
          <p:nvPr/>
        </p:nvSpPr>
        <p:spPr>
          <a:xfrm>
            <a:off x="9784080" y="3749040"/>
            <a:ext cx="1783080" cy="2011680"/>
          </a:xfrm>
          <a:prstGeom prst="roundRect">
            <a:avLst>
              <a:gd name="adj" fmla="val 6154"/>
            </a:avLst>
          </a:prstGeom>
          <a:solidFill>
            <a:schemeClr val="bg2"/>
          </a:solidFill>
          <a:ln w="12700">
            <a:solidFill>
              <a:schemeClr val="bg2"/>
            </a:solidFill>
            <a:prstDash val="solid"/>
          </a:ln>
        </p:spPr>
      </p:sp>
      <p:sp>
        <p:nvSpPr>
          <p:cNvPr id="41" name="Order period circle"/>
          <p:cNvSpPr/>
          <p:nvPr/>
        </p:nvSpPr>
        <p:spPr>
          <a:xfrm>
            <a:off x="9966960" y="3931920"/>
            <a:ext cx="502920" cy="502920"/>
          </a:xfrm>
          <a:prstGeom prst="ellipse">
            <a:avLst/>
          </a:prstGeom>
          <a:solidFill>
            <a:srgbClr val="F26B21"/>
          </a:solidFill>
          <a:ln w="12700">
            <a:solidFill>
              <a:srgbClr val="F26B21"/>
            </a:solidFill>
            <a:prstDash val="solid"/>
          </a:ln>
        </p:spPr>
      </p:sp>
      <p:pic>
        <p:nvPicPr>
          <p:cNvPr id="42" name="Order period icon" descr="Order period"/>
          <p:cNvPicPr>
            <a:picLocks noChangeAspect="1"/>
          </p:cNvPicPr>
          <p:nvPr/>
        </p:nvPicPr>
        <p:blipFill>
          <a:blip r:embed="rId9"/>
          <a:stretch>
            <a:fillRect/>
          </a:stretch>
        </p:blipFill>
        <p:spPr>
          <a:xfrm>
            <a:off x="10102748" y="4067708"/>
            <a:ext cx="231343" cy="231343"/>
          </a:xfrm>
          <a:prstGeom prst="rect">
            <a:avLst/>
          </a:prstGeom>
        </p:spPr>
      </p:pic>
      <p:sp>
        <p:nvSpPr>
          <p:cNvPr id="43" name="Text 32"/>
          <p:cNvSpPr txBox="1"/>
          <p:nvPr/>
        </p:nvSpPr>
        <p:spPr>
          <a:xfrm>
            <a:off x="9966960" y="4572000"/>
            <a:ext cx="1554480" cy="548640"/>
          </a:xfrm>
          <a:prstGeom prst="rect">
            <a:avLst/>
          </a:prstGeom>
          <a:noFill/>
          <a:ln/>
        </p:spPr>
        <p:txBody>
          <a:bodyPr wrap="square" lIns="0" tIns="0" rIns="0" bIns="0" rtlCol="0" anchor="ctr"/>
          <a:lstStyle/>
          <a:p>
            <a:pPr marL="0" indent="0">
              <a:buNone/>
            </a:pPr>
            <a:r>
              <a:rPr lang="en-US" sz="3000" b="1" dirty="0">
                <a:solidFill>
                  <a:schemeClr val="tx2"/>
                </a:solidFill>
              </a:rPr>
              <a:t>2016–18</a:t>
            </a:r>
            <a:endParaRPr lang="en-US" sz="3000" dirty="0"/>
          </a:p>
        </p:txBody>
      </p:sp>
      <p:sp>
        <p:nvSpPr>
          <p:cNvPr id="44" name="Text 33"/>
          <p:cNvSpPr txBox="1"/>
          <p:nvPr/>
        </p:nvSpPr>
        <p:spPr>
          <a:xfrm>
            <a:off x="9966960" y="5120640"/>
            <a:ext cx="1508760" cy="502920"/>
          </a:xfrm>
          <a:prstGeom prst="rect">
            <a:avLst/>
          </a:prstGeom>
          <a:noFill/>
          <a:ln/>
        </p:spPr>
        <p:txBody>
          <a:bodyPr wrap="square" lIns="0" tIns="0" rIns="0" bIns="0" rtlCol="0" anchor="t"/>
          <a:lstStyle/>
          <a:p>
            <a:pPr marL="0" indent="0">
              <a:buNone/>
            </a:pPr>
            <a:r>
              <a:rPr lang="en-US" sz="1400" dirty="0">
                <a:solidFill>
                  <a:schemeClr val="tx1"/>
                </a:solidFill>
              </a:rPr>
              <a:t>Order period</a:t>
            </a:r>
            <a:endParaRPr lang="en-US" sz="1400" dirty="0"/>
          </a:p>
        </p:txBody>
      </p:sp>
      <p:sp>
        <p:nvSpPr>
          <p:cNvPr id="4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4-Phase Workflow</a:t>
            </a:r>
            <a:endParaRPr lang="en-US" sz="3400" dirty="0"/>
          </a:p>
        </p:txBody>
      </p:sp>
      <p:sp>
        <p:nvSpPr>
          <p:cNvPr id="3" name="Phase card Excel"/>
          <p:cNvSpPr/>
          <p:nvPr/>
        </p:nvSpPr>
        <p:spPr>
          <a:xfrm>
            <a:off x="548640" y="1554480"/>
            <a:ext cx="2514600" cy="3017520"/>
          </a:xfrm>
          <a:prstGeom prst="roundRect">
            <a:avLst>
              <a:gd name="adj" fmla="val 4364"/>
            </a:avLst>
          </a:prstGeom>
          <a:solidFill>
            <a:schemeClr val="bg2"/>
          </a:solidFill>
          <a:ln w="12700">
            <a:solidFill>
              <a:schemeClr val="bg2"/>
            </a:solidFill>
            <a:prstDash val="solid"/>
          </a:ln>
        </p:spPr>
      </p:sp>
      <p:sp>
        <p:nvSpPr>
          <p:cNvPr id="4" name="Excel circle"/>
          <p:cNvSpPr/>
          <p:nvPr/>
        </p:nvSpPr>
        <p:spPr>
          <a:xfrm>
            <a:off x="731520" y="1783080"/>
            <a:ext cx="822960" cy="822960"/>
          </a:xfrm>
          <a:prstGeom prst="ellipse">
            <a:avLst/>
          </a:prstGeom>
          <a:solidFill>
            <a:srgbClr val="2E9E6B"/>
          </a:solidFill>
          <a:ln w="12700">
            <a:solidFill>
              <a:srgbClr val="2E9E6B"/>
            </a:solidFill>
            <a:prstDash val="solid"/>
          </a:ln>
        </p:spPr>
      </p:sp>
      <p:pic>
        <p:nvPicPr>
          <p:cNvPr id="5" name="Excel icon" descr="Excel"/>
          <p:cNvPicPr>
            <a:picLocks noChangeAspect="1"/>
          </p:cNvPicPr>
          <p:nvPr/>
        </p:nvPicPr>
        <p:blipFill>
          <a:blip r:embed="rId3"/>
          <a:stretch>
            <a:fillRect/>
          </a:stretch>
        </p:blipFill>
        <p:spPr>
          <a:xfrm>
            <a:off x="953719" y="2005279"/>
            <a:ext cx="378562" cy="378562"/>
          </a:xfrm>
          <a:prstGeom prst="rect">
            <a:avLst/>
          </a:prstGeom>
        </p:spPr>
      </p:pic>
      <p:sp>
        <p:nvSpPr>
          <p:cNvPr id="6" name="Text 3"/>
          <p:cNvSpPr txBox="1"/>
          <p:nvPr/>
        </p:nvSpPr>
        <p:spPr>
          <a:xfrm>
            <a:off x="731520" y="2788920"/>
            <a:ext cx="210312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PHASE 1</a:t>
            </a:r>
            <a:endParaRPr lang="en-US" sz="1200" dirty="0"/>
          </a:p>
        </p:txBody>
      </p:sp>
      <p:sp>
        <p:nvSpPr>
          <p:cNvPr id="7" name="Text 4"/>
          <p:cNvSpPr txBox="1"/>
          <p:nvPr/>
        </p:nvSpPr>
        <p:spPr>
          <a:xfrm>
            <a:off x="731520" y="3108960"/>
            <a:ext cx="2103120" cy="457200"/>
          </a:xfrm>
          <a:prstGeom prst="rect">
            <a:avLst/>
          </a:prstGeom>
          <a:noFill/>
          <a:ln/>
        </p:spPr>
        <p:txBody>
          <a:bodyPr wrap="square" lIns="0" tIns="0" rIns="0" bIns="0" rtlCol="0" anchor="ctr"/>
          <a:lstStyle/>
          <a:p>
            <a:pPr marL="0" indent="0">
              <a:buNone/>
            </a:pPr>
            <a:r>
              <a:rPr lang="en-US" sz="2600" b="1" dirty="0">
                <a:solidFill>
                  <a:schemeClr val="tx2"/>
                </a:solidFill>
              </a:rPr>
              <a:t>Excel</a:t>
            </a:r>
            <a:endParaRPr lang="en-US" sz="2600" dirty="0"/>
          </a:p>
        </p:txBody>
      </p:sp>
      <p:sp>
        <p:nvSpPr>
          <p:cNvPr id="8" name="Text 5"/>
          <p:cNvSpPr txBox="1"/>
          <p:nvPr/>
        </p:nvSpPr>
        <p:spPr>
          <a:xfrm>
            <a:off x="731520" y="3611880"/>
            <a:ext cx="2148840" cy="822960"/>
          </a:xfrm>
          <a:prstGeom prst="rect">
            <a:avLst/>
          </a:prstGeom>
          <a:noFill/>
          <a:ln/>
        </p:spPr>
        <p:txBody>
          <a:bodyPr wrap="square" lIns="0" tIns="0" rIns="0" bIns="0" rtlCol="0" anchor="t"/>
          <a:lstStyle/>
          <a:p>
            <a:pPr marL="0" indent="0">
              <a:buNone/>
            </a:pPr>
            <a:r>
              <a:rPr lang="en-US" sz="1400" dirty="0">
                <a:solidFill>
                  <a:schemeClr val="tx1"/>
                </a:solidFill>
              </a:rPr>
              <a:t>Validate, de-duplicate and prepare 9 tables</a:t>
            </a:r>
            <a:endParaRPr lang="en-US" sz="1400" dirty="0"/>
          </a:p>
        </p:txBody>
      </p:sp>
      <p:pic>
        <p:nvPicPr>
          <p:cNvPr id="9" name="Arrow 1" descr="next"/>
          <p:cNvPicPr>
            <a:picLocks noChangeAspect="1"/>
          </p:cNvPicPr>
          <p:nvPr/>
        </p:nvPicPr>
        <p:blipFill>
          <a:blip r:embed="rId4"/>
          <a:stretch>
            <a:fillRect/>
          </a:stretch>
        </p:blipFill>
        <p:spPr>
          <a:xfrm>
            <a:off x="3118104" y="2926080"/>
            <a:ext cx="228600" cy="228600"/>
          </a:xfrm>
          <a:prstGeom prst="rect">
            <a:avLst/>
          </a:prstGeom>
        </p:spPr>
      </p:pic>
      <p:sp>
        <p:nvSpPr>
          <p:cNvPr id="10" name="Phase card SQL"/>
          <p:cNvSpPr/>
          <p:nvPr/>
        </p:nvSpPr>
        <p:spPr>
          <a:xfrm>
            <a:off x="3401568" y="1554480"/>
            <a:ext cx="2514600" cy="3017520"/>
          </a:xfrm>
          <a:prstGeom prst="roundRect">
            <a:avLst>
              <a:gd name="adj" fmla="val 4364"/>
            </a:avLst>
          </a:prstGeom>
          <a:solidFill>
            <a:schemeClr val="bg2"/>
          </a:solidFill>
          <a:ln w="12700">
            <a:solidFill>
              <a:schemeClr val="bg2"/>
            </a:solidFill>
            <a:prstDash val="solid"/>
          </a:ln>
        </p:spPr>
      </p:sp>
      <p:sp>
        <p:nvSpPr>
          <p:cNvPr id="11" name="SQL circle"/>
          <p:cNvSpPr/>
          <p:nvPr/>
        </p:nvSpPr>
        <p:spPr>
          <a:xfrm>
            <a:off x="3584448" y="1783080"/>
            <a:ext cx="822960" cy="822960"/>
          </a:xfrm>
          <a:prstGeom prst="ellipse">
            <a:avLst/>
          </a:prstGeom>
          <a:solidFill>
            <a:srgbClr val="1F7A8C"/>
          </a:solidFill>
          <a:ln w="12700">
            <a:solidFill>
              <a:srgbClr val="1F7A8C"/>
            </a:solidFill>
            <a:prstDash val="solid"/>
          </a:ln>
        </p:spPr>
      </p:sp>
      <p:pic>
        <p:nvPicPr>
          <p:cNvPr id="12" name="SQL icon" descr="SQL"/>
          <p:cNvPicPr>
            <a:picLocks noChangeAspect="1"/>
          </p:cNvPicPr>
          <p:nvPr/>
        </p:nvPicPr>
        <p:blipFill>
          <a:blip r:embed="rId5"/>
          <a:stretch>
            <a:fillRect/>
          </a:stretch>
        </p:blipFill>
        <p:spPr>
          <a:xfrm>
            <a:off x="3806647" y="2005279"/>
            <a:ext cx="378562" cy="378562"/>
          </a:xfrm>
          <a:prstGeom prst="rect">
            <a:avLst/>
          </a:prstGeom>
        </p:spPr>
      </p:pic>
      <p:sp>
        <p:nvSpPr>
          <p:cNvPr id="13" name="Text 8"/>
          <p:cNvSpPr txBox="1"/>
          <p:nvPr/>
        </p:nvSpPr>
        <p:spPr>
          <a:xfrm>
            <a:off x="3584448" y="2788920"/>
            <a:ext cx="210312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PHASE 2</a:t>
            </a:r>
            <a:endParaRPr lang="en-US" sz="1200" dirty="0"/>
          </a:p>
        </p:txBody>
      </p:sp>
      <p:sp>
        <p:nvSpPr>
          <p:cNvPr id="14" name="Text 9"/>
          <p:cNvSpPr txBox="1"/>
          <p:nvPr/>
        </p:nvSpPr>
        <p:spPr>
          <a:xfrm>
            <a:off x="3584448" y="3108960"/>
            <a:ext cx="2103120" cy="457200"/>
          </a:xfrm>
          <a:prstGeom prst="rect">
            <a:avLst/>
          </a:prstGeom>
          <a:noFill/>
          <a:ln/>
        </p:spPr>
        <p:txBody>
          <a:bodyPr wrap="square" lIns="0" tIns="0" rIns="0" bIns="0" rtlCol="0" anchor="ctr"/>
          <a:lstStyle/>
          <a:p>
            <a:pPr marL="0" indent="0">
              <a:buNone/>
            </a:pPr>
            <a:r>
              <a:rPr lang="en-US" sz="2600" b="1" dirty="0">
                <a:solidFill>
                  <a:schemeClr val="tx2"/>
                </a:solidFill>
              </a:rPr>
              <a:t>SQL</a:t>
            </a:r>
            <a:endParaRPr lang="en-US" sz="2600" dirty="0"/>
          </a:p>
        </p:txBody>
      </p:sp>
      <p:sp>
        <p:nvSpPr>
          <p:cNvPr id="15" name="Text 10"/>
          <p:cNvSpPr txBox="1"/>
          <p:nvPr/>
        </p:nvSpPr>
        <p:spPr>
          <a:xfrm>
            <a:off x="3584448" y="3611880"/>
            <a:ext cx="2148840" cy="822960"/>
          </a:xfrm>
          <a:prstGeom prst="rect">
            <a:avLst/>
          </a:prstGeom>
          <a:noFill/>
          <a:ln/>
        </p:spPr>
        <p:txBody>
          <a:bodyPr wrap="square" lIns="0" tIns="0" rIns="0" bIns="0" rtlCol="0" anchor="t"/>
          <a:lstStyle/>
          <a:p>
            <a:pPr marL="0" indent="0">
              <a:buNone/>
            </a:pPr>
            <a:r>
              <a:rPr lang="en-US" sz="1400" dirty="0">
                <a:solidFill>
                  <a:schemeClr val="tx1"/>
                </a:solidFill>
              </a:rPr>
              <a:t>Joins, aggregations and business rules in MySQL</a:t>
            </a:r>
            <a:endParaRPr lang="en-US" sz="1400" dirty="0"/>
          </a:p>
        </p:txBody>
      </p:sp>
      <p:pic>
        <p:nvPicPr>
          <p:cNvPr id="16" name="Arrow 2" descr="next"/>
          <p:cNvPicPr>
            <a:picLocks noChangeAspect="1"/>
          </p:cNvPicPr>
          <p:nvPr/>
        </p:nvPicPr>
        <p:blipFill>
          <a:blip r:embed="rId4"/>
          <a:stretch>
            <a:fillRect/>
          </a:stretch>
        </p:blipFill>
        <p:spPr>
          <a:xfrm>
            <a:off x="5971032" y="2926080"/>
            <a:ext cx="228600" cy="228600"/>
          </a:xfrm>
          <a:prstGeom prst="rect">
            <a:avLst/>
          </a:prstGeom>
        </p:spPr>
      </p:pic>
      <p:sp>
        <p:nvSpPr>
          <p:cNvPr id="17" name="Phase card Python"/>
          <p:cNvSpPr/>
          <p:nvPr/>
        </p:nvSpPr>
        <p:spPr>
          <a:xfrm>
            <a:off x="6254496" y="1554480"/>
            <a:ext cx="2514600" cy="3017520"/>
          </a:xfrm>
          <a:prstGeom prst="roundRect">
            <a:avLst>
              <a:gd name="adj" fmla="val 4364"/>
            </a:avLst>
          </a:prstGeom>
          <a:solidFill>
            <a:schemeClr val="bg2"/>
          </a:solidFill>
          <a:ln w="12700">
            <a:solidFill>
              <a:schemeClr val="bg2"/>
            </a:solidFill>
            <a:prstDash val="solid"/>
          </a:ln>
        </p:spPr>
      </p:sp>
      <p:sp>
        <p:nvSpPr>
          <p:cNvPr id="18" name="Python circle"/>
          <p:cNvSpPr/>
          <p:nvPr/>
        </p:nvSpPr>
        <p:spPr>
          <a:xfrm>
            <a:off x="6437376" y="1783080"/>
            <a:ext cx="822960" cy="822960"/>
          </a:xfrm>
          <a:prstGeom prst="ellipse">
            <a:avLst/>
          </a:prstGeom>
          <a:solidFill>
            <a:srgbClr val="F2B134"/>
          </a:solidFill>
          <a:ln w="12700">
            <a:solidFill>
              <a:srgbClr val="F2B134"/>
            </a:solidFill>
            <a:prstDash val="solid"/>
          </a:ln>
        </p:spPr>
      </p:sp>
      <p:pic>
        <p:nvPicPr>
          <p:cNvPr id="19" name="Python icon" descr="Python"/>
          <p:cNvPicPr>
            <a:picLocks noChangeAspect="1"/>
          </p:cNvPicPr>
          <p:nvPr/>
        </p:nvPicPr>
        <p:blipFill>
          <a:blip r:embed="rId6"/>
          <a:stretch>
            <a:fillRect/>
          </a:stretch>
        </p:blipFill>
        <p:spPr>
          <a:xfrm>
            <a:off x="6659575" y="2005279"/>
            <a:ext cx="378562" cy="378562"/>
          </a:xfrm>
          <a:prstGeom prst="rect">
            <a:avLst/>
          </a:prstGeom>
        </p:spPr>
      </p:pic>
      <p:sp>
        <p:nvSpPr>
          <p:cNvPr id="20" name="Text 13"/>
          <p:cNvSpPr txBox="1"/>
          <p:nvPr/>
        </p:nvSpPr>
        <p:spPr>
          <a:xfrm>
            <a:off x="6437376" y="2788920"/>
            <a:ext cx="210312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PHASE 3</a:t>
            </a:r>
            <a:endParaRPr lang="en-US" sz="1200" dirty="0"/>
          </a:p>
        </p:txBody>
      </p:sp>
      <p:sp>
        <p:nvSpPr>
          <p:cNvPr id="21" name="Text 14"/>
          <p:cNvSpPr txBox="1"/>
          <p:nvPr/>
        </p:nvSpPr>
        <p:spPr>
          <a:xfrm>
            <a:off x="6437376" y="3108960"/>
            <a:ext cx="2103120" cy="457200"/>
          </a:xfrm>
          <a:prstGeom prst="rect">
            <a:avLst/>
          </a:prstGeom>
          <a:noFill/>
          <a:ln/>
        </p:spPr>
        <p:txBody>
          <a:bodyPr wrap="square" lIns="0" tIns="0" rIns="0" bIns="0" rtlCol="0" anchor="ctr"/>
          <a:lstStyle/>
          <a:p>
            <a:pPr marL="0" indent="0">
              <a:buNone/>
            </a:pPr>
            <a:r>
              <a:rPr lang="en-US" sz="2600" b="1" dirty="0">
                <a:solidFill>
                  <a:schemeClr val="tx2"/>
                </a:solidFill>
              </a:rPr>
              <a:t>Python</a:t>
            </a:r>
            <a:endParaRPr lang="en-US" sz="2600" dirty="0"/>
          </a:p>
        </p:txBody>
      </p:sp>
      <p:sp>
        <p:nvSpPr>
          <p:cNvPr id="22" name="Text 15"/>
          <p:cNvSpPr txBox="1"/>
          <p:nvPr/>
        </p:nvSpPr>
        <p:spPr>
          <a:xfrm>
            <a:off x="6437376" y="3611880"/>
            <a:ext cx="2148840" cy="822960"/>
          </a:xfrm>
          <a:prstGeom prst="rect">
            <a:avLst/>
          </a:prstGeom>
          <a:noFill/>
          <a:ln/>
        </p:spPr>
        <p:txBody>
          <a:bodyPr wrap="square" lIns="0" tIns="0" rIns="0" bIns="0" rtlCol="0" anchor="t"/>
          <a:lstStyle/>
          <a:p>
            <a:pPr marL="0" indent="0">
              <a:buNone/>
            </a:pPr>
            <a:r>
              <a:rPr lang="en-US" sz="1400" dirty="0">
                <a:solidFill>
                  <a:schemeClr val="tx1"/>
                </a:solidFill>
              </a:rPr>
              <a:t>RFM scoring and export back to MySQL</a:t>
            </a:r>
            <a:endParaRPr lang="en-US" sz="1400" dirty="0"/>
          </a:p>
        </p:txBody>
      </p:sp>
      <p:pic>
        <p:nvPicPr>
          <p:cNvPr id="23" name="Arrow 3" descr="next"/>
          <p:cNvPicPr>
            <a:picLocks noChangeAspect="1"/>
          </p:cNvPicPr>
          <p:nvPr/>
        </p:nvPicPr>
        <p:blipFill>
          <a:blip r:embed="rId4"/>
          <a:stretch>
            <a:fillRect/>
          </a:stretch>
        </p:blipFill>
        <p:spPr>
          <a:xfrm>
            <a:off x="8823960" y="2926080"/>
            <a:ext cx="228600" cy="228600"/>
          </a:xfrm>
          <a:prstGeom prst="rect">
            <a:avLst/>
          </a:prstGeom>
        </p:spPr>
      </p:pic>
      <p:sp>
        <p:nvSpPr>
          <p:cNvPr id="24" name="Phase card Power BI"/>
          <p:cNvSpPr/>
          <p:nvPr/>
        </p:nvSpPr>
        <p:spPr>
          <a:xfrm>
            <a:off x="9107424" y="1554480"/>
            <a:ext cx="2514600" cy="3017520"/>
          </a:xfrm>
          <a:prstGeom prst="roundRect">
            <a:avLst>
              <a:gd name="adj" fmla="val 4364"/>
            </a:avLst>
          </a:prstGeom>
          <a:solidFill>
            <a:schemeClr val="bg2"/>
          </a:solidFill>
          <a:ln w="12700">
            <a:solidFill>
              <a:schemeClr val="bg2"/>
            </a:solidFill>
            <a:prstDash val="solid"/>
          </a:ln>
        </p:spPr>
      </p:sp>
      <p:sp>
        <p:nvSpPr>
          <p:cNvPr id="25" name="Power BI circle"/>
          <p:cNvSpPr/>
          <p:nvPr/>
        </p:nvSpPr>
        <p:spPr>
          <a:xfrm>
            <a:off x="9290304" y="1783080"/>
            <a:ext cx="822960" cy="822960"/>
          </a:xfrm>
          <a:prstGeom prst="ellipse">
            <a:avLst/>
          </a:prstGeom>
          <a:solidFill>
            <a:srgbClr val="F26B21"/>
          </a:solidFill>
          <a:ln w="12700">
            <a:solidFill>
              <a:srgbClr val="F26B21"/>
            </a:solidFill>
            <a:prstDash val="solid"/>
          </a:ln>
        </p:spPr>
      </p:sp>
      <p:pic>
        <p:nvPicPr>
          <p:cNvPr id="26" name="Power BI icon" descr="Power BI"/>
          <p:cNvPicPr>
            <a:picLocks noChangeAspect="1"/>
          </p:cNvPicPr>
          <p:nvPr/>
        </p:nvPicPr>
        <p:blipFill>
          <a:blip r:embed="rId7"/>
          <a:stretch>
            <a:fillRect/>
          </a:stretch>
        </p:blipFill>
        <p:spPr>
          <a:xfrm>
            <a:off x="9512503" y="2005279"/>
            <a:ext cx="378562" cy="378562"/>
          </a:xfrm>
          <a:prstGeom prst="rect">
            <a:avLst/>
          </a:prstGeom>
        </p:spPr>
      </p:pic>
      <p:sp>
        <p:nvSpPr>
          <p:cNvPr id="27" name="Text 18"/>
          <p:cNvSpPr txBox="1"/>
          <p:nvPr/>
        </p:nvSpPr>
        <p:spPr>
          <a:xfrm>
            <a:off x="9290304" y="2788920"/>
            <a:ext cx="210312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PHASE 4</a:t>
            </a:r>
            <a:endParaRPr lang="en-US" sz="1200" dirty="0"/>
          </a:p>
        </p:txBody>
      </p:sp>
      <p:sp>
        <p:nvSpPr>
          <p:cNvPr id="28" name="Text 19"/>
          <p:cNvSpPr txBox="1"/>
          <p:nvPr/>
        </p:nvSpPr>
        <p:spPr>
          <a:xfrm>
            <a:off x="9290304" y="3108960"/>
            <a:ext cx="2103120" cy="457200"/>
          </a:xfrm>
          <a:prstGeom prst="rect">
            <a:avLst/>
          </a:prstGeom>
          <a:noFill/>
          <a:ln/>
        </p:spPr>
        <p:txBody>
          <a:bodyPr wrap="square" lIns="0" tIns="0" rIns="0" bIns="0" rtlCol="0" anchor="ctr"/>
          <a:lstStyle/>
          <a:p>
            <a:pPr marL="0" indent="0">
              <a:buNone/>
            </a:pPr>
            <a:r>
              <a:rPr lang="en-US" sz="2600" b="1" dirty="0">
                <a:solidFill>
                  <a:schemeClr val="tx2"/>
                </a:solidFill>
              </a:rPr>
              <a:t>Power BI</a:t>
            </a:r>
            <a:endParaRPr lang="en-US" sz="2600" dirty="0"/>
          </a:p>
        </p:txBody>
      </p:sp>
      <p:sp>
        <p:nvSpPr>
          <p:cNvPr id="29" name="Text 20"/>
          <p:cNvSpPr txBox="1"/>
          <p:nvPr/>
        </p:nvSpPr>
        <p:spPr>
          <a:xfrm>
            <a:off x="9290304" y="3611880"/>
            <a:ext cx="2148840" cy="822960"/>
          </a:xfrm>
          <a:prstGeom prst="rect">
            <a:avLst/>
          </a:prstGeom>
          <a:noFill/>
          <a:ln/>
        </p:spPr>
        <p:txBody>
          <a:bodyPr wrap="square" lIns="0" tIns="0" rIns="0" bIns="0" rtlCol="0" anchor="t"/>
          <a:lstStyle/>
          <a:p>
            <a:pPr marL="0" indent="0">
              <a:buNone/>
            </a:pPr>
            <a:r>
              <a:rPr lang="en-US" sz="1400" dirty="0">
                <a:solidFill>
                  <a:schemeClr val="tx1"/>
                </a:solidFill>
              </a:rPr>
              <a:t>Interactive KPIs for decision makers</a:t>
            </a:r>
            <a:endParaRPr lang="en-US" sz="1400" dirty="0"/>
          </a:p>
        </p:txBody>
      </p:sp>
      <p:sp>
        <p:nvSpPr>
          <p:cNvPr id="30" name="Data flow bar"/>
          <p:cNvSpPr/>
          <p:nvPr/>
        </p:nvSpPr>
        <p:spPr>
          <a:xfrm>
            <a:off x="548640" y="4983480"/>
            <a:ext cx="11064240" cy="914400"/>
          </a:xfrm>
          <a:prstGeom prst="roundRect">
            <a:avLst>
              <a:gd name="adj" fmla="val 12000"/>
            </a:avLst>
          </a:prstGeom>
          <a:solidFill>
            <a:schemeClr val="tx2"/>
          </a:solidFill>
          <a:ln w="12700">
            <a:solidFill>
              <a:schemeClr val="tx2"/>
            </a:solidFill>
            <a:prstDash val="solid"/>
          </a:ln>
        </p:spPr>
      </p:sp>
      <p:sp>
        <p:nvSpPr>
          <p:cNvPr id="31" name="Text 22"/>
          <p:cNvSpPr txBox="1"/>
          <p:nvPr/>
        </p:nvSpPr>
        <p:spPr>
          <a:xfrm>
            <a:off x="731520" y="4983480"/>
            <a:ext cx="10698480" cy="914400"/>
          </a:xfrm>
          <a:prstGeom prst="rect">
            <a:avLst/>
          </a:prstGeom>
          <a:noFill/>
          <a:ln/>
        </p:spPr>
        <p:txBody>
          <a:bodyPr wrap="square" lIns="0" tIns="0" rIns="0" bIns="0" rtlCol="0" anchor="ctr"/>
          <a:lstStyle/>
          <a:p>
            <a:pPr marL="0" indent="0" algn="ctr">
              <a:buNone/>
            </a:pPr>
            <a:r>
              <a:rPr lang="en-US" sz="1800" b="1" dirty="0">
                <a:solidFill>
                  <a:schemeClr val="bg1"/>
                </a:solidFill>
              </a:rPr>
              <a:t>Raw CSV  →  Clean Excel  →  MySQL  →  Python RFM  →  customer_segments  →  Power BI</a:t>
            </a:r>
            <a:endParaRPr lang="en-US" sz="1800" dirty="0"/>
          </a:p>
        </p:txBody>
      </p:sp>
      <p:sp>
        <p:nvSpPr>
          <p:cNvPr id="32"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Phase 1 · Excel Data Cleaning</a:t>
            </a:r>
            <a:endParaRPr lang="en-US" sz="3400" dirty="0"/>
          </a:p>
        </p:txBody>
      </p:sp>
      <p:sp>
        <p:nvSpPr>
          <p:cNvPr id="3" name="Data validation circle"/>
          <p:cNvSpPr/>
          <p:nvPr/>
        </p:nvSpPr>
        <p:spPr>
          <a:xfrm>
            <a:off x="548640" y="1645920"/>
            <a:ext cx="640080" cy="640080"/>
          </a:xfrm>
          <a:prstGeom prst="ellipse">
            <a:avLst/>
          </a:prstGeom>
          <a:solidFill>
            <a:srgbClr val="2E9E6B"/>
          </a:solidFill>
          <a:ln w="12700">
            <a:solidFill>
              <a:srgbClr val="2E9E6B"/>
            </a:solidFill>
            <a:prstDash val="solid"/>
          </a:ln>
        </p:spPr>
      </p:sp>
      <p:pic>
        <p:nvPicPr>
          <p:cNvPr id="4" name="Data validation icon" descr="Data validation"/>
          <p:cNvPicPr>
            <a:picLocks noChangeAspect="1"/>
          </p:cNvPicPr>
          <p:nvPr/>
        </p:nvPicPr>
        <p:blipFill>
          <a:blip r:embed="rId3"/>
          <a:stretch>
            <a:fillRect/>
          </a:stretch>
        </p:blipFill>
        <p:spPr>
          <a:xfrm>
            <a:off x="721462" y="1818742"/>
            <a:ext cx="294437" cy="294437"/>
          </a:xfrm>
          <a:prstGeom prst="rect">
            <a:avLst/>
          </a:prstGeom>
        </p:spPr>
      </p:pic>
      <p:sp>
        <p:nvSpPr>
          <p:cNvPr id="5" name="Text 2"/>
          <p:cNvSpPr txBox="1"/>
          <p:nvPr/>
        </p:nvSpPr>
        <p:spPr>
          <a:xfrm>
            <a:off x="1463040" y="1554480"/>
            <a:ext cx="4480560" cy="365760"/>
          </a:xfrm>
          <a:prstGeom prst="rect">
            <a:avLst/>
          </a:prstGeom>
          <a:noFill/>
          <a:ln/>
        </p:spPr>
        <p:txBody>
          <a:bodyPr wrap="square" lIns="0" tIns="0" rIns="0" bIns="0" rtlCol="0" anchor="ctr"/>
          <a:lstStyle/>
          <a:p>
            <a:pPr marL="0" indent="0">
              <a:buNone/>
            </a:pPr>
            <a:r>
              <a:rPr lang="en-US" sz="1800" b="1" dirty="0">
                <a:solidFill>
                  <a:schemeClr val="tx2"/>
                </a:solidFill>
              </a:rPr>
              <a:t>Data validation</a:t>
            </a:r>
            <a:endParaRPr lang="en-US" sz="1800" dirty="0"/>
          </a:p>
        </p:txBody>
      </p:sp>
      <p:sp>
        <p:nvSpPr>
          <p:cNvPr id="6" name="Text 3"/>
          <p:cNvSpPr txBox="1"/>
          <p:nvPr/>
        </p:nvSpPr>
        <p:spPr>
          <a:xfrm>
            <a:off x="1463040" y="1938528"/>
            <a:ext cx="4480560" cy="594360"/>
          </a:xfrm>
          <a:prstGeom prst="rect">
            <a:avLst/>
          </a:prstGeom>
          <a:noFill/>
          <a:ln/>
        </p:spPr>
        <p:txBody>
          <a:bodyPr wrap="square" lIns="0" tIns="0" rIns="0" bIns="0" rtlCol="0" anchor="t"/>
          <a:lstStyle/>
          <a:p>
            <a:pPr marL="0" indent="0">
              <a:buNone/>
            </a:pPr>
            <a:r>
              <a:rPr lang="en-US" sz="1400" dirty="0">
                <a:solidFill>
                  <a:schemeClr val="tx1"/>
                </a:solidFill>
              </a:rPr>
              <a:t>Checked duplicates, 'NA' phone values and order → required → shipped date logic</a:t>
            </a:r>
            <a:endParaRPr lang="en-US" sz="1400" dirty="0"/>
          </a:p>
        </p:txBody>
      </p:sp>
      <p:sp>
        <p:nvSpPr>
          <p:cNvPr id="7" name="XLOOKUP circle"/>
          <p:cNvSpPr/>
          <p:nvPr/>
        </p:nvSpPr>
        <p:spPr>
          <a:xfrm>
            <a:off x="548640" y="2743200"/>
            <a:ext cx="640080" cy="640080"/>
          </a:xfrm>
          <a:prstGeom prst="ellipse">
            <a:avLst/>
          </a:prstGeom>
          <a:solidFill>
            <a:srgbClr val="1F7A8C"/>
          </a:solidFill>
          <a:ln w="12700">
            <a:solidFill>
              <a:srgbClr val="1F7A8C"/>
            </a:solidFill>
            <a:prstDash val="solid"/>
          </a:ln>
        </p:spPr>
      </p:sp>
      <p:pic>
        <p:nvPicPr>
          <p:cNvPr id="8" name="XLOOKUP icon" descr="XLOOKUP"/>
          <p:cNvPicPr>
            <a:picLocks noChangeAspect="1"/>
          </p:cNvPicPr>
          <p:nvPr/>
        </p:nvPicPr>
        <p:blipFill>
          <a:blip r:embed="rId4"/>
          <a:stretch>
            <a:fillRect/>
          </a:stretch>
        </p:blipFill>
        <p:spPr>
          <a:xfrm>
            <a:off x="721462" y="2916022"/>
            <a:ext cx="294437" cy="294437"/>
          </a:xfrm>
          <a:prstGeom prst="rect">
            <a:avLst/>
          </a:prstGeom>
        </p:spPr>
      </p:pic>
      <p:sp>
        <p:nvSpPr>
          <p:cNvPr id="9" name="Text 5"/>
          <p:cNvSpPr txBox="1"/>
          <p:nvPr/>
        </p:nvSpPr>
        <p:spPr>
          <a:xfrm>
            <a:off x="1463040" y="2651760"/>
            <a:ext cx="4480560" cy="365760"/>
          </a:xfrm>
          <a:prstGeom prst="rect">
            <a:avLst/>
          </a:prstGeom>
          <a:noFill/>
          <a:ln/>
        </p:spPr>
        <p:txBody>
          <a:bodyPr wrap="square" lIns="0" tIns="0" rIns="0" bIns="0" rtlCol="0" anchor="ctr"/>
          <a:lstStyle/>
          <a:p>
            <a:pPr marL="0" indent="0">
              <a:buNone/>
            </a:pPr>
            <a:r>
              <a:rPr lang="en-US" sz="1800" b="1" dirty="0">
                <a:solidFill>
                  <a:schemeClr val="tx2"/>
                </a:solidFill>
              </a:rPr>
              <a:t>XLOOKUP</a:t>
            </a:r>
            <a:endParaRPr lang="en-US" sz="1800" dirty="0"/>
          </a:p>
        </p:txBody>
      </p:sp>
      <p:sp>
        <p:nvSpPr>
          <p:cNvPr id="10" name="Text 6"/>
          <p:cNvSpPr txBox="1"/>
          <p:nvPr/>
        </p:nvSpPr>
        <p:spPr>
          <a:xfrm>
            <a:off x="1463040" y="3035808"/>
            <a:ext cx="4480560" cy="594360"/>
          </a:xfrm>
          <a:prstGeom prst="rect">
            <a:avLst/>
          </a:prstGeom>
          <a:noFill/>
          <a:ln/>
        </p:spPr>
        <p:txBody>
          <a:bodyPr wrap="square" lIns="0" tIns="0" rIns="0" bIns="0" rtlCol="0" anchor="t"/>
          <a:lstStyle/>
          <a:p>
            <a:pPr marL="0" indent="0">
              <a:buNone/>
            </a:pPr>
            <a:r>
              <a:rPr lang="en-US" sz="1400" dirty="0">
                <a:solidFill>
                  <a:schemeClr val="tx1"/>
                </a:solidFill>
              </a:rPr>
              <a:t>Brought product names into 4,722 order line items</a:t>
            </a:r>
            <a:endParaRPr lang="en-US" sz="1400" dirty="0"/>
          </a:p>
        </p:txBody>
      </p:sp>
      <p:sp>
        <p:nvSpPr>
          <p:cNvPr id="11" name="Outlier check circle"/>
          <p:cNvSpPr/>
          <p:nvPr/>
        </p:nvSpPr>
        <p:spPr>
          <a:xfrm>
            <a:off x="548640" y="3840480"/>
            <a:ext cx="640080" cy="640080"/>
          </a:xfrm>
          <a:prstGeom prst="ellipse">
            <a:avLst/>
          </a:prstGeom>
          <a:solidFill>
            <a:srgbClr val="F26B21"/>
          </a:solidFill>
          <a:ln w="12700">
            <a:solidFill>
              <a:srgbClr val="F26B21"/>
            </a:solidFill>
            <a:prstDash val="solid"/>
          </a:ln>
        </p:spPr>
      </p:sp>
      <p:pic>
        <p:nvPicPr>
          <p:cNvPr id="12" name="Outlier check icon" descr="Outlier check"/>
          <p:cNvPicPr>
            <a:picLocks noChangeAspect="1"/>
          </p:cNvPicPr>
          <p:nvPr/>
        </p:nvPicPr>
        <p:blipFill>
          <a:blip r:embed="rId5"/>
          <a:stretch>
            <a:fillRect/>
          </a:stretch>
        </p:blipFill>
        <p:spPr>
          <a:xfrm>
            <a:off x="721462" y="4013302"/>
            <a:ext cx="294437" cy="294437"/>
          </a:xfrm>
          <a:prstGeom prst="rect">
            <a:avLst/>
          </a:prstGeom>
        </p:spPr>
      </p:pic>
      <p:sp>
        <p:nvSpPr>
          <p:cNvPr id="13" name="Text 8"/>
          <p:cNvSpPr txBox="1"/>
          <p:nvPr/>
        </p:nvSpPr>
        <p:spPr>
          <a:xfrm>
            <a:off x="1463040" y="3749040"/>
            <a:ext cx="4480560" cy="365760"/>
          </a:xfrm>
          <a:prstGeom prst="rect">
            <a:avLst/>
          </a:prstGeom>
          <a:noFill/>
          <a:ln/>
        </p:spPr>
        <p:txBody>
          <a:bodyPr wrap="square" lIns="0" tIns="0" rIns="0" bIns="0" rtlCol="0" anchor="ctr"/>
          <a:lstStyle/>
          <a:p>
            <a:pPr marL="0" indent="0">
              <a:buNone/>
            </a:pPr>
            <a:r>
              <a:rPr lang="en-US" sz="1800" b="1" dirty="0">
                <a:solidFill>
                  <a:schemeClr val="tx2"/>
                </a:solidFill>
              </a:rPr>
              <a:t>Outlier check</a:t>
            </a:r>
            <a:endParaRPr lang="en-US" sz="1800" dirty="0"/>
          </a:p>
        </p:txBody>
      </p:sp>
      <p:sp>
        <p:nvSpPr>
          <p:cNvPr id="14" name="Text 9"/>
          <p:cNvSpPr txBox="1"/>
          <p:nvPr/>
        </p:nvSpPr>
        <p:spPr>
          <a:xfrm>
            <a:off x="1463040" y="4133088"/>
            <a:ext cx="4480560" cy="594360"/>
          </a:xfrm>
          <a:prstGeom prst="rect">
            <a:avLst/>
          </a:prstGeom>
          <a:noFill/>
          <a:ln/>
        </p:spPr>
        <p:txBody>
          <a:bodyPr wrap="square" lIns="0" tIns="0" rIns="0" bIns="0" rtlCol="0" anchor="t"/>
          <a:lstStyle/>
          <a:p>
            <a:pPr marL="0" indent="0">
              <a:buNone/>
            </a:pPr>
            <a:r>
              <a:rPr lang="en-US" sz="1400" dirty="0">
                <a:solidFill>
                  <a:schemeClr val="tx1"/>
                </a:solidFill>
              </a:rPr>
              <a:t>Reviewed product list prices for unusual values</a:t>
            </a:r>
            <a:endParaRPr lang="en-US" sz="1400" dirty="0"/>
          </a:p>
        </p:txBody>
      </p:sp>
      <p:sp>
        <p:nvSpPr>
          <p:cNvPr id="15" name="Pivot table circle"/>
          <p:cNvSpPr/>
          <p:nvPr/>
        </p:nvSpPr>
        <p:spPr>
          <a:xfrm>
            <a:off x="548640" y="4937760"/>
            <a:ext cx="640080" cy="640080"/>
          </a:xfrm>
          <a:prstGeom prst="ellipse">
            <a:avLst/>
          </a:prstGeom>
          <a:solidFill>
            <a:srgbClr val="1F7A8C"/>
          </a:solidFill>
          <a:ln w="12700">
            <a:solidFill>
              <a:srgbClr val="1F7A8C"/>
            </a:solidFill>
            <a:prstDash val="solid"/>
          </a:ln>
        </p:spPr>
      </p:sp>
      <p:pic>
        <p:nvPicPr>
          <p:cNvPr id="16" name="Pivot table icon" descr="Pivot table"/>
          <p:cNvPicPr>
            <a:picLocks noChangeAspect="1"/>
          </p:cNvPicPr>
          <p:nvPr/>
        </p:nvPicPr>
        <p:blipFill>
          <a:blip r:embed="rId6"/>
          <a:stretch>
            <a:fillRect/>
          </a:stretch>
        </p:blipFill>
        <p:spPr>
          <a:xfrm>
            <a:off x="721462" y="5110582"/>
            <a:ext cx="294437" cy="294437"/>
          </a:xfrm>
          <a:prstGeom prst="rect">
            <a:avLst/>
          </a:prstGeom>
        </p:spPr>
      </p:pic>
      <p:sp>
        <p:nvSpPr>
          <p:cNvPr id="17" name="Text 11"/>
          <p:cNvSpPr txBox="1"/>
          <p:nvPr/>
        </p:nvSpPr>
        <p:spPr>
          <a:xfrm>
            <a:off x="1463040" y="4846320"/>
            <a:ext cx="4480560" cy="365760"/>
          </a:xfrm>
          <a:prstGeom prst="rect">
            <a:avLst/>
          </a:prstGeom>
          <a:noFill/>
          <a:ln/>
        </p:spPr>
        <p:txBody>
          <a:bodyPr wrap="square" lIns="0" tIns="0" rIns="0" bIns="0" rtlCol="0" anchor="ctr"/>
          <a:lstStyle/>
          <a:p>
            <a:pPr marL="0" indent="0">
              <a:buNone/>
            </a:pPr>
            <a:r>
              <a:rPr lang="en-US" sz="1800" b="1" dirty="0">
                <a:solidFill>
                  <a:schemeClr val="tx2"/>
                </a:solidFill>
              </a:rPr>
              <a:t>Pivot table</a:t>
            </a:r>
            <a:endParaRPr lang="en-US" sz="1800" dirty="0"/>
          </a:p>
        </p:txBody>
      </p:sp>
      <p:sp>
        <p:nvSpPr>
          <p:cNvPr id="18" name="Text 12"/>
          <p:cNvSpPr txBox="1"/>
          <p:nvPr/>
        </p:nvSpPr>
        <p:spPr>
          <a:xfrm>
            <a:off x="1463040" y="5230368"/>
            <a:ext cx="4480560" cy="594360"/>
          </a:xfrm>
          <a:prstGeom prst="rect">
            <a:avLst/>
          </a:prstGeom>
          <a:noFill/>
          <a:ln/>
        </p:spPr>
        <p:txBody>
          <a:bodyPr wrap="square" lIns="0" tIns="0" rIns="0" bIns="0" rtlCol="0" anchor="t"/>
          <a:lstStyle/>
          <a:p>
            <a:pPr marL="0" indent="0">
              <a:buNone/>
            </a:pPr>
            <a:r>
              <a:rPr lang="en-US" sz="1400" dirty="0">
                <a:solidFill>
                  <a:schemeClr val="tx1"/>
                </a:solidFill>
              </a:rPr>
              <a:t>Total sales summarised by product category</a:t>
            </a:r>
            <a:endParaRPr lang="en-US" sz="1400" dirty="0"/>
          </a:p>
        </p:txBody>
      </p:sp>
      <p:sp>
        <p:nvSpPr>
          <p:cNvPr id="19" name="Chart panel"/>
          <p:cNvSpPr/>
          <p:nvPr/>
        </p:nvSpPr>
        <p:spPr>
          <a:xfrm>
            <a:off x="6309360" y="1463040"/>
            <a:ext cx="5303520" cy="4663440"/>
          </a:xfrm>
          <a:prstGeom prst="roundRect">
            <a:avLst>
              <a:gd name="adj" fmla="val 2353"/>
            </a:avLst>
          </a:prstGeom>
          <a:solidFill>
            <a:schemeClr val="bg2"/>
          </a:solidFill>
          <a:ln w="12700">
            <a:solidFill>
              <a:schemeClr val="bg2"/>
            </a:solidFill>
            <a:prstDash val="solid"/>
          </a:ln>
        </p:spPr>
      </p:sp>
      <p:graphicFrame>
        <p:nvGraphicFramePr>
          <p:cNvPr id="20" name="Chart 0"/>
          <p:cNvGraphicFramePr/>
          <p:nvPr/>
        </p:nvGraphicFramePr>
        <p:xfrm>
          <a:off x="6400800" y="1554480"/>
          <a:ext cx="5120640" cy="4480560"/>
        </p:xfrm>
        <a:graphic>
          <a:graphicData uri="http://schemas.openxmlformats.org/drawingml/2006/chart">
            <c:chart xmlns:c="http://schemas.openxmlformats.org/drawingml/2006/chart" xmlns:r="http://schemas.openxmlformats.org/officeDocument/2006/relationships" r:id="rId7"/>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Phase 2 · SQL Analysis</a:t>
            </a:r>
            <a:endParaRPr lang="en-US" sz="3400" dirty="0"/>
          </a:p>
        </p:txBody>
      </p:sp>
      <p:sp>
        <p:nvSpPr>
          <p:cNvPr id="3" name="Query card Joins"/>
          <p:cNvSpPr/>
          <p:nvPr/>
        </p:nvSpPr>
        <p:spPr>
          <a:xfrm>
            <a:off x="548640" y="1508760"/>
            <a:ext cx="2697480" cy="1280160"/>
          </a:xfrm>
          <a:prstGeom prst="roundRect">
            <a:avLst>
              <a:gd name="adj" fmla="val 8571"/>
            </a:avLst>
          </a:prstGeom>
          <a:solidFill>
            <a:schemeClr val="bg2"/>
          </a:solidFill>
          <a:ln w="12700">
            <a:solidFill>
              <a:schemeClr val="bg2"/>
            </a:solidFill>
            <a:prstDash val="solid"/>
          </a:ln>
        </p:spPr>
      </p:sp>
      <p:sp>
        <p:nvSpPr>
          <p:cNvPr id="4" name="Joins circle"/>
          <p:cNvSpPr/>
          <p:nvPr/>
        </p:nvSpPr>
        <p:spPr>
          <a:xfrm>
            <a:off x="731520" y="1691640"/>
            <a:ext cx="457200" cy="457200"/>
          </a:xfrm>
          <a:prstGeom prst="ellipse">
            <a:avLst/>
          </a:prstGeom>
          <a:solidFill>
            <a:srgbClr val="1F7A8C"/>
          </a:solidFill>
          <a:ln w="12700">
            <a:solidFill>
              <a:srgbClr val="1F7A8C"/>
            </a:solidFill>
            <a:prstDash val="solid"/>
          </a:ln>
        </p:spPr>
      </p:sp>
      <p:pic>
        <p:nvPicPr>
          <p:cNvPr id="5" name="Joins icon" descr="Joins"/>
          <p:cNvPicPr>
            <a:picLocks noChangeAspect="1"/>
          </p:cNvPicPr>
          <p:nvPr/>
        </p:nvPicPr>
        <p:blipFill>
          <a:blip r:embed="rId3"/>
          <a:stretch>
            <a:fillRect/>
          </a:stretch>
        </p:blipFill>
        <p:spPr>
          <a:xfrm>
            <a:off x="854964" y="1815084"/>
            <a:ext cx="210312" cy="210312"/>
          </a:xfrm>
          <a:prstGeom prst="rect">
            <a:avLst/>
          </a:prstGeom>
        </p:spPr>
      </p:pic>
      <p:sp>
        <p:nvSpPr>
          <p:cNvPr id="6" name="Text 3"/>
          <p:cNvSpPr txBox="1"/>
          <p:nvPr/>
        </p:nvSpPr>
        <p:spPr>
          <a:xfrm>
            <a:off x="1325880" y="1691640"/>
            <a:ext cx="1828800" cy="457200"/>
          </a:xfrm>
          <a:prstGeom prst="rect">
            <a:avLst/>
          </a:prstGeom>
          <a:noFill/>
          <a:ln/>
        </p:spPr>
        <p:txBody>
          <a:bodyPr wrap="square" lIns="0" tIns="0" rIns="0" bIns="0" rtlCol="0" anchor="ctr"/>
          <a:lstStyle/>
          <a:p>
            <a:pPr marL="0" indent="0">
              <a:buNone/>
            </a:pPr>
            <a:r>
              <a:rPr lang="en-US" sz="1600" b="1" dirty="0">
                <a:solidFill>
                  <a:schemeClr val="tx2"/>
                </a:solidFill>
              </a:rPr>
              <a:t>Joins</a:t>
            </a:r>
            <a:endParaRPr lang="en-US" sz="1600" dirty="0"/>
          </a:p>
        </p:txBody>
      </p:sp>
      <p:sp>
        <p:nvSpPr>
          <p:cNvPr id="7" name="Text 4"/>
          <p:cNvSpPr txBox="1"/>
          <p:nvPr/>
        </p:nvSpPr>
        <p:spPr>
          <a:xfrm>
            <a:off x="731520" y="2258568"/>
            <a:ext cx="2377440" cy="457200"/>
          </a:xfrm>
          <a:prstGeom prst="rect">
            <a:avLst/>
          </a:prstGeom>
          <a:noFill/>
          <a:ln/>
        </p:spPr>
        <p:txBody>
          <a:bodyPr wrap="square" lIns="0" tIns="0" rIns="0" bIns="0" rtlCol="0" anchor="t"/>
          <a:lstStyle/>
          <a:p>
            <a:pPr marL="0" indent="0">
              <a:buNone/>
            </a:pPr>
            <a:r>
              <a:rPr lang="en-US" sz="1400" dirty="0">
                <a:solidFill>
                  <a:schemeClr val="tx1"/>
                </a:solidFill>
              </a:rPr>
              <a:t>Orders, items, products, customers</a:t>
            </a:r>
            <a:endParaRPr lang="en-US" sz="1400" dirty="0"/>
          </a:p>
        </p:txBody>
      </p:sp>
      <p:sp>
        <p:nvSpPr>
          <p:cNvPr id="8" name="Query card Store sales"/>
          <p:cNvSpPr/>
          <p:nvPr/>
        </p:nvSpPr>
        <p:spPr>
          <a:xfrm>
            <a:off x="3383280" y="1508760"/>
            <a:ext cx="2697480" cy="1280160"/>
          </a:xfrm>
          <a:prstGeom prst="roundRect">
            <a:avLst>
              <a:gd name="adj" fmla="val 8571"/>
            </a:avLst>
          </a:prstGeom>
          <a:solidFill>
            <a:schemeClr val="bg2"/>
          </a:solidFill>
          <a:ln w="12700">
            <a:solidFill>
              <a:schemeClr val="bg2"/>
            </a:solidFill>
            <a:prstDash val="solid"/>
          </a:ln>
        </p:spPr>
      </p:sp>
      <p:sp>
        <p:nvSpPr>
          <p:cNvPr id="9" name="Store sales circle"/>
          <p:cNvSpPr/>
          <p:nvPr/>
        </p:nvSpPr>
        <p:spPr>
          <a:xfrm>
            <a:off x="3566160" y="1691640"/>
            <a:ext cx="457200" cy="457200"/>
          </a:xfrm>
          <a:prstGeom prst="ellipse">
            <a:avLst/>
          </a:prstGeom>
          <a:solidFill>
            <a:srgbClr val="2E9E6B"/>
          </a:solidFill>
          <a:ln w="12700">
            <a:solidFill>
              <a:srgbClr val="2E9E6B"/>
            </a:solidFill>
            <a:prstDash val="solid"/>
          </a:ln>
        </p:spPr>
      </p:sp>
      <p:pic>
        <p:nvPicPr>
          <p:cNvPr id="10" name="Store sales icon" descr="Store sales"/>
          <p:cNvPicPr>
            <a:picLocks noChangeAspect="1"/>
          </p:cNvPicPr>
          <p:nvPr/>
        </p:nvPicPr>
        <p:blipFill>
          <a:blip r:embed="rId4"/>
          <a:stretch>
            <a:fillRect/>
          </a:stretch>
        </p:blipFill>
        <p:spPr>
          <a:xfrm>
            <a:off x="3689604" y="1815084"/>
            <a:ext cx="210312" cy="210312"/>
          </a:xfrm>
          <a:prstGeom prst="rect">
            <a:avLst/>
          </a:prstGeom>
        </p:spPr>
      </p:pic>
      <p:sp>
        <p:nvSpPr>
          <p:cNvPr id="11" name="Text 7"/>
          <p:cNvSpPr txBox="1"/>
          <p:nvPr/>
        </p:nvSpPr>
        <p:spPr>
          <a:xfrm>
            <a:off x="4160520" y="1691640"/>
            <a:ext cx="1828800" cy="457200"/>
          </a:xfrm>
          <a:prstGeom prst="rect">
            <a:avLst/>
          </a:prstGeom>
          <a:noFill/>
          <a:ln/>
        </p:spPr>
        <p:txBody>
          <a:bodyPr wrap="square" lIns="0" tIns="0" rIns="0" bIns="0" rtlCol="0" anchor="ctr"/>
          <a:lstStyle/>
          <a:p>
            <a:pPr marL="0" indent="0">
              <a:buNone/>
            </a:pPr>
            <a:r>
              <a:rPr lang="en-US" sz="1600" b="1" dirty="0">
                <a:solidFill>
                  <a:schemeClr val="tx2"/>
                </a:solidFill>
              </a:rPr>
              <a:t>Store sales</a:t>
            </a:r>
            <a:endParaRPr lang="en-US" sz="1600" dirty="0"/>
          </a:p>
        </p:txBody>
      </p:sp>
      <p:sp>
        <p:nvSpPr>
          <p:cNvPr id="12" name="Text 8"/>
          <p:cNvSpPr txBox="1"/>
          <p:nvPr/>
        </p:nvSpPr>
        <p:spPr>
          <a:xfrm>
            <a:off x="3566160" y="2258568"/>
            <a:ext cx="2377440" cy="457200"/>
          </a:xfrm>
          <a:prstGeom prst="rect">
            <a:avLst/>
          </a:prstGeom>
          <a:noFill/>
          <a:ln/>
        </p:spPr>
        <p:txBody>
          <a:bodyPr wrap="square" lIns="0" tIns="0" rIns="0" bIns="0" rtlCol="0" anchor="t"/>
          <a:lstStyle/>
          <a:p>
            <a:pPr marL="0" indent="0">
              <a:buNone/>
            </a:pPr>
            <a:r>
              <a:rPr lang="en-US" sz="1400" dirty="0">
                <a:solidFill>
                  <a:schemeClr val="tx1"/>
                </a:solidFill>
              </a:rPr>
              <a:t>Total revenue by store</a:t>
            </a:r>
            <a:endParaRPr lang="en-US" sz="1400" dirty="0"/>
          </a:p>
        </p:txBody>
      </p:sp>
      <p:sp>
        <p:nvSpPr>
          <p:cNvPr id="13" name="Query card Top 5 products"/>
          <p:cNvSpPr/>
          <p:nvPr/>
        </p:nvSpPr>
        <p:spPr>
          <a:xfrm>
            <a:off x="548640" y="2926080"/>
            <a:ext cx="2697480" cy="1280160"/>
          </a:xfrm>
          <a:prstGeom prst="roundRect">
            <a:avLst>
              <a:gd name="adj" fmla="val 8571"/>
            </a:avLst>
          </a:prstGeom>
          <a:solidFill>
            <a:schemeClr val="bg2"/>
          </a:solidFill>
          <a:ln w="12700">
            <a:solidFill>
              <a:schemeClr val="bg2"/>
            </a:solidFill>
            <a:prstDash val="solid"/>
          </a:ln>
        </p:spPr>
      </p:sp>
      <p:sp>
        <p:nvSpPr>
          <p:cNvPr id="14" name="Top 5 products circle"/>
          <p:cNvSpPr/>
          <p:nvPr/>
        </p:nvSpPr>
        <p:spPr>
          <a:xfrm>
            <a:off x="731520" y="3108960"/>
            <a:ext cx="457200" cy="457200"/>
          </a:xfrm>
          <a:prstGeom prst="ellipse">
            <a:avLst/>
          </a:prstGeom>
          <a:solidFill>
            <a:srgbClr val="F26B21"/>
          </a:solidFill>
          <a:ln w="12700">
            <a:solidFill>
              <a:srgbClr val="F26B21"/>
            </a:solidFill>
            <a:prstDash val="solid"/>
          </a:ln>
        </p:spPr>
      </p:sp>
      <p:pic>
        <p:nvPicPr>
          <p:cNvPr id="15" name="Top 5 products icon" descr="Top 5 products"/>
          <p:cNvPicPr>
            <a:picLocks noChangeAspect="1"/>
          </p:cNvPicPr>
          <p:nvPr/>
        </p:nvPicPr>
        <p:blipFill>
          <a:blip r:embed="rId5"/>
          <a:stretch>
            <a:fillRect/>
          </a:stretch>
        </p:blipFill>
        <p:spPr>
          <a:xfrm>
            <a:off x="854964" y="3232404"/>
            <a:ext cx="210312" cy="210312"/>
          </a:xfrm>
          <a:prstGeom prst="rect">
            <a:avLst/>
          </a:prstGeom>
        </p:spPr>
      </p:pic>
      <p:sp>
        <p:nvSpPr>
          <p:cNvPr id="16" name="Text 11"/>
          <p:cNvSpPr txBox="1"/>
          <p:nvPr/>
        </p:nvSpPr>
        <p:spPr>
          <a:xfrm>
            <a:off x="1325880" y="3108960"/>
            <a:ext cx="1828800" cy="457200"/>
          </a:xfrm>
          <a:prstGeom prst="rect">
            <a:avLst/>
          </a:prstGeom>
          <a:noFill/>
          <a:ln/>
        </p:spPr>
        <p:txBody>
          <a:bodyPr wrap="square" lIns="0" tIns="0" rIns="0" bIns="0" rtlCol="0" anchor="ctr"/>
          <a:lstStyle/>
          <a:p>
            <a:pPr marL="0" indent="0">
              <a:buNone/>
            </a:pPr>
            <a:r>
              <a:rPr lang="en-US" sz="1600" b="1" dirty="0">
                <a:solidFill>
                  <a:schemeClr val="tx2"/>
                </a:solidFill>
              </a:rPr>
              <a:t>Top 5 products</a:t>
            </a:r>
            <a:endParaRPr lang="en-US" sz="1600" dirty="0"/>
          </a:p>
        </p:txBody>
      </p:sp>
      <p:sp>
        <p:nvSpPr>
          <p:cNvPr id="17" name="Text 12"/>
          <p:cNvSpPr txBox="1"/>
          <p:nvPr/>
        </p:nvSpPr>
        <p:spPr>
          <a:xfrm>
            <a:off x="731520" y="3675888"/>
            <a:ext cx="2377440" cy="457200"/>
          </a:xfrm>
          <a:prstGeom prst="rect">
            <a:avLst/>
          </a:prstGeom>
          <a:noFill/>
          <a:ln/>
        </p:spPr>
        <p:txBody>
          <a:bodyPr wrap="square" lIns="0" tIns="0" rIns="0" bIns="0" rtlCol="0" anchor="t"/>
          <a:lstStyle/>
          <a:p>
            <a:pPr marL="0" indent="0">
              <a:buNone/>
            </a:pPr>
            <a:r>
              <a:rPr lang="en-US" sz="1400" dirty="0">
                <a:solidFill>
                  <a:schemeClr val="tx1"/>
                </a:solidFill>
              </a:rPr>
              <a:t>Ranked by quantity sold</a:t>
            </a:r>
            <a:endParaRPr lang="en-US" sz="1400" dirty="0"/>
          </a:p>
        </p:txBody>
      </p:sp>
      <p:sp>
        <p:nvSpPr>
          <p:cNvPr id="18" name="Query card Spend segments"/>
          <p:cNvSpPr/>
          <p:nvPr/>
        </p:nvSpPr>
        <p:spPr>
          <a:xfrm>
            <a:off x="3383280" y="2926080"/>
            <a:ext cx="2697480" cy="1280160"/>
          </a:xfrm>
          <a:prstGeom prst="roundRect">
            <a:avLst>
              <a:gd name="adj" fmla="val 8571"/>
            </a:avLst>
          </a:prstGeom>
          <a:solidFill>
            <a:schemeClr val="bg2"/>
          </a:solidFill>
          <a:ln w="12700">
            <a:solidFill>
              <a:schemeClr val="bg2"/>
            </a:solidFill>
            <a:prstDash val="solid"/>
          </a:ln>
        </p:spPr>
      </p:sp>
      <p:sp>
        <p:nvSpPr>
          <p:cNvPr id="19" name="Spend segments circle"/>
          <p:cNvSpPr/>
          <p:nvPr/>
        </p:nvSpPr>
        <p:spPr>
          <a:xfrm>
            <a:off x="3566160" y="3108960"/>
            <a:ext cx="457200" cy="457200"/>
          </a:xfrm>
          <a:prstGeom prst="ellipse">
            <a:avLst/>
          </a:prstGeom>
          <a:solidFill>
            <a:srgbClr val="1F7A8C"/>
          </a:solidFill>
          <a:ln w="12700">
            <a:solidFill>
              <a:srgbClr val="1F7A8C"/>
            </a:solidFill>
            <a:prstDash val="solid"/>
          </a:ln>
        </p:spPr>
      </p:sp>
      <p:pic>
        <p:nvPicPr>
          <p:cNvPr id="20" name="Spend segments icon" descr="Spend segments"/>
          <p:cNvPicPr>
            <a:picLocks noChangeAspect="1"/>
          </p:cNvPicPr>
          <p:nvPr/>
        </p:nvPicPr>
        <p:blipFill>
          <a:blip r:embed="rId6"/>
          <a:stretch>
            <a:fillRect/>
          </a:stretch>
        </p:blipFill>
        <p:spPr>
          <a:xfrm>
            <a:off x="3689604" y="3232404"/>
            <a:ext cx="210312" cy="210312"/>
          </a:xfrm>
          <a:prstGeom prst="rect">
            <a:avLst/>
          </a:prstGeom>
        </p:spPr>
      </p:pic>
      <p:sp>
        <p:nvSpPr>
          <p:cNvPr id="21" name="Text 15"/>
          <p:cNvSpPr txBox="1"/>
          <p:nvPr/>
        </p:nvSpPr>
        <p:spPr>
          <a:xfrm>
            <a:off x="4160520" y="3108960"/>
            <a:ext cx="1828800" cy="457200"/>
          </a:xfrm>
          <a:prstGeom prst="rect">
            <a:avLst/>
          </a:prstGeom>
          <a:noFill/>
          <a:ln/>
        </p:spPr>
        <p:txBody>
          <a:bodyPr wrap="square" lIns="0" tIns="0" rIns="0" bIns="0" rtlCol="0" anchor="ctr"/>
          <a:lstStyle/>
          <a:p>
            <a:pPr marL="0" indent="0">
              <a:buNone/>
            </a:pPr>
            <a:r>
              <a:rPr lang="en-US" sz="1600" b="1" dirty="0">
                <a:solidFill>
                  <a:schemeClr val="tx2"/>
                </a:solidFill>
              </a:rPr>
              <a:t>Spend segments</a:t>
            </a:r>
            <a:endParaRPr lang="en-US" sz="1600" dirty="0"/>
          </a:p>
        </p:txBody>
      </p:sp>
      <p:sp>
        <p:nvSpPr>
          <p:cNvPr id="22" name="Text 16"/>
          <p:cNvSpPr txBox="1"/>
          <p:nvPr/>
        </p:nvSpPr>
        <p:spPr>
          <a:xfrm>
            <a:off x="3566160" y="3675888"/>
            <a:ext cx="2377440" cy="457200"/>
          </a:xfrm>
          <a:prstGeom prst="rect">
            <a:avLst/>
          </a:prstGeom>
          <a:noFill/>
          <a:ln/>
        </p:spPr>
        <p:txBody>
          <a:bodyPr wrap="square" lIns="0" tIns="0" rIns="0" bIns="0" rtlCol="0" anchor="t"/>
          <a:lstStyle/>
          <a:p>
            <a:pPr marL="0" indent="0">
              <a:buNone/>
            </a:pPr>
            <a:r>
              <a:rPr lang="en-US" sz="1400" dirty="0">
                <a:solidFill>
                  <a:schemeClr val="tx1"/>
                </a:solidFill>
              </a:rPr>
              <a:t>Low, Medium, High via CASE</a:t>
            </a:r>
            <a:endParaRPr lang="en-US" sz="1400" dirty="0"/>
          </a:p>
        </p:txBody>
      </p:sp>
      <p:sp>
        <p:nvSpPr>
          <p:cNvPr id="23" name="Query card Staff performance"/>
          <p:cNvSpPr/>
          <p:nvPr/>
        </p:nvSpPr>
        <p:spPr>
          <a:xfrm>
            <a:off x="548640" y="4343400"/>
            <a:ext cx="2697480" cy="1280160"/>
          </a:xfrm>
          <a:prstGeom prst="roundRect">
            <a:avLst>
              <a:gd name="adj" fmla="val 8571"/>
            </a:avLst>
          </a:prstGeom>
          <a:solidFill>
            <a:schemeClr val="bg2"/>
          </a:solidFill>
          <a:ln w="12700">
            <a:solidFill>
              <a:schemeClr val="bg2"/>
            </a:solidFill>
            <a:prstDash val="solid"/>
          </a:ln>
        </p:spPr>
      </p:sp>
      <p:sp>
        <p:nvSpPr>
          <p:cNvPr id="24" name="Staff performance circle"/>
          <p:cNvSpPr/>
          <p:nvPr/>
        </p:nvSpPr>
        <p:spPr>
          <a:xfrm>
            <a:off x="731520" y="4526280"/>
            <a:ext cx="457200" cy="457200"/>
          </a:xfrm>
          <a:prstGeom prst="ellipse">
            <a:avLst/>
          </a:prstGeom>
          <a:solidFill>
            <a:srgbClr val="2E9E6B"/>
          </a:solidFill>
          <a:ln w="12700">
            <a:solidFill>
              <a:srgbClr val="2E9E6B"/>
            </a:solidFill>
            <a:prstDash val="solid"/>
          </a:ln>
        </p:spPr>
      </p:sp>
      <p:pic>
        <p:nvPicPr>
          <p:cNvPr id="25" name="Staff performance icon" descr="Staff performance"/>
          <p:cNvPicPr>
            <a:picLocks noChangeAspect="1"/>
          </p:cNvPicPr>
          <p:nvPr/>
        </p:nvPicPr>
        <p:blipFill>
          <a:blip r:embed="rId7"/>
          <a:stretch>
            <a:fillRect/>
          </a:stretch>
        </p:blipFill>
        <p:spPr>
          <a:xfrm>
            <a:off x="854964" y="4649724"/>
            <a:ext cx="210312" cy="210312"/>
          </a:xfrm>
          <a:prstGeom prst="rect">
            <a:avLst/>
          </a:prstGeom>
        </p:spPr>
      </p:pic>
      <p:sp>
        <p:nvSpPr>
          <p:cNvPr id="26" name="Text 19"/>
          <p:cNvSpPr txBox="1"/>
          <p:nvPr/>
        </p:nvSpPr>
        <p:spPr>
          <a:xfrm>
            <a:off x="1325880" y="4526280"/>
            <a:ext cx="1828800" cy="457200"/>
          </a:xfrm>
          <a:prstGeom prst="rect">
            <a:avLst/>
          </a:prstGeom>
          <a:noFill/>
          <a:ln/>
        </p:spPr>
        <p:txBody>
          <a:bodyPr wrap="square" lIns="0" tIns="0" rIns="0" bIns="0" rtlCol="0" anchor="ctr"/>
          <a:lstStyle/>
          <a:p>
            <a:pPr marL="0" indent="0">
              <a:buNone/>
            </a:pPr>
            <a:r>
              <a:rPr lang="en-US" sz="1600" b="1" dirty="0">
                <a:solidFill>
                  <a:schemeClr val="tx2"/>
                </a:solidFill>
              </a:rPr>
              <a:t>Staff performance</a:t>
            </a:r>
            <a:endParaRPr lang="en-US" sz="1600" dirty="0"/>
          </a:p>
        </p:txBody>
      </p:sp>
      <p:sp>
        <p:nvSpPr>
          <p:cNvPr id="27" name="Text 20"/>
          <p:cNvSpPr txBox="1"/>
          <p:nvPr/>
        </p:nvSpPr>
        <p:spPr>
          <a:xfrm>
            <a:off x="731520" y="5093208"/>
            <a:ext cx="2377440" cy="457200"/>
          </a:xfrm>
          <a:prstGeom prst="rect">
            <a:avLst/>
          </a:prstGeom>
          <a:noFill/>
          <a:ln/>
        </p:spPr>
        <p:txBody>
          <a:bodyPr wrap="square" lIns="0" tIns="0" rIns="0" bIns="0" rtlCol="0" anchor="t"/>
          <a:lstStyle/>
          <a:p>
            <a:pPr marL="0" indent="0">
              <a:buNone/>
            </a:pPr>
            <a:r>
              <a:rPr lang="en-US" sz="1400" dirty="0">
                <a:solidFill>
                  <a:schemeClr val="tx1"/>
                </a:solidFill>
              </a:rPr>
              <a:t>Orders and revenue per staff</a:t>
            </a:r>
            <a:endParaRPr lang="en-US" sz="1400" dirty="0"/>
          </a:p>
        </p:txBody>
      </p:sp>
      <p:sp>
        <p:nvSpPr>
          <p:cNvPr id="28" name="Query card Stock alerts"/>
          <p:cNvSpPr/>
          <p:nvPr/>
        </p:nvSpPr>
        <p:spPr>
          <a:xfrm>
            <a:off x="3383280" y="4343400"/>
            <a:ext cx="2697480" cy="1280160"/>
          </a:xfrm>
          <a:prstGeom prst="roundRect">
            <a:avLst>
              <a:gd name="adj" fmla="val 8571"/>
            </a:avLst>
          </a:prstGeom>
          <a:solidFill>
            <a:schemeClr val="bg2"/>
          </a:solidFill>
          <a:ln w="12700">
            <a:solidFill>
              <a:schemeClr val="bg2"/>
            </a:solidFill>
            <a:prstDash val="solid"/>
          </a:ln>
        </p:spPr>
      </p:sp>
      <p:sp>
        <p:nvSpPr>
          <p:cNvPr id="29" name="Stock alerts circle"/>
          <p:cNvSpPr/>
          <p:nvPr/>
        </p:nvSpPr>
        <p:spPr>
          <a:xfrm>
            <a:off x="3566160" y="4526280"/>
            <a:ext cx="457200" cy="457200"/>
          </a:xfrm>
          <a:prstGeom prst="ellipse">
            <a:avLst/>
          </a:prstGeom>
          <a:solidFill>
            <a:srgbClr val="F26B21"/>
          </a:solidFill>
          <a:ln w="12700">
            <a:solidFill>
              <a:srgbClr val="F26B21"/>
            </a:solidFill>
            <a:prstDash val="solid"/>
          </a:ln>
        </p:spPr>
      </p:sp>
      <p:pic>
        <p:nvPicPr>
          <p:cNvPr id="30" name="Stock alerts icon" descr="Stock alerts"/>
          <p:cNvPicPr>
            <a:picLocks noChangeAspect="1"/>
          </p:cNvPicPr>
          <p:nvPr/>
        </p:nvPicPr>
        <p:blipFill>
          <a:blip r:embed="rId8"/>
          <a:stretch>
            <a:fillRect/>
          </a:stretch>
        </p:blipFill>
        <p:spPr>
          <a:xfrm>
            <a:off x="3689604" y="4649724"/>
            <a:ext cx="210312" cy="210312"/>
          </a:xfrm>
          <a:prstGeom prst="rect">
            <a:avLst/>
          </a:prstGeom>
        </p:spPr>
      </p:pic>
      <p:sp>
        <p:nvSpPr>
          <p:cNvPr id="31" name="Text 23"/>
          <p:cNvSpPr txBox="1"/>
          <p:nvPr/>
        </p:nvSpPr>
        <p:spPr>
          <a:xfrm>
            <a:off x="4160520" y="4526280"/>
            <a:ext cx="1828800" cy="457200"/>
          </a:xfrm>
          <a:prstGeom prst="rect">
            <a:avLst/>
          </a:prstGeom>
          <a:noFill/>
          <a:ln/>
        </p:spPr>
        <p:txBody>
          <a:bodyPr wrap="square" lIns="0" tIns="0" rIns="0" bIns="0" rtlCol="0" anchor="ctr"/>
          <a:lstStyle/>
          <a:p>
            <a:pPr marL="0" indent="0">
              <a:buNone/>
            </a:pPr>
            <a:r>
              <a:rPr lang="en-US" sz="1600" b="1" dirty="0">
                <a:solidFill>
                  <a:schemeClr val="tx2"/>
                </a:solidFill>
              </a:rPr>
              <a:t>Stock alerts</a:t>
            </a:r>
            <a:endParaRPr lang="en-US" sz="1600" dirty="0"/>
          </a:p>
        </p:txBody>
      </p:sp>
      <p:sp>
        <p:nvSpPr>
          <p:cNvPr id="32" name="Text 24"/>
          <p:cNvSpPr txBox="1"/>
          <p:nvPr/>
        </p:nvSpPr>
        <p:spPr>
          <a:xfrm>
            <a:off x="3566160" y="5093208"/>
            <a:ext cx="2377440" cy="457200"/>
          </a:xfrm>
          <a:prstGeom prst="rect">
            <a:avLst/>
          </a:prstGeom>
          <a:noFill/>
          <a:ln/>
        </p:spPr>
        <p:txBody>
          <a:bodyPr wrap="square" lIns="0" tIns="0" rIns="0" bIns="0" rtlCol="0" anchor="t"/>
          <a:lstStyle/>
          <a:p>
            <a:pPr marL="0" indent="0">
              <a:buNone/>
            </a:pPr>
            <a:r>
              <a:rPr lang="en-US" sz="1400" dirty="0">
                <a:solidFill>
                  <a:schemeClr val="tx1"/>
                </a:solidFill>
              </a:rPr>
              <a:t>Items below 10 units</a:t>
            </a:r>
            <a:endParaRPr lang="en-US" sz="1400" dirty="0"/>
          </a:p>
        </p:txBody>
      </p:sp>
      <p:sp>
        <p:nvSpPr>
          <p:cNvPr id="33" name="Text 25"/>
          <p:cNvSpPr txBox="1"/>
          <p:nvPr/>
        </p:nvSpPr>
        <p:spPr>
          <a:xfrm>
            <a:off x="548640" y="5852160"/>
            <a:ext cx="5532120" cy="365760"/>
          </a:xfrm>
          <a:prstGeom prst="rect">
            <a:avLst/>
          </a:prstGeom>
          <a:noFill/>
          <a:ln/>
        </p:spPr>
        <p:txBody>
          <a:bodyPr wrap="square" lIns="0" tIns="0" rIns="0" bIns="0" rtlCol="0" anchor="ctr"/>
          <a:lstStyle/>
          <a:p>
            <a:pPr marL="0" indent="0">
              <a:buNone/>
            </a:pPr>
            <a:r>
              <a:rPr lang="en-US" sz="1400" i="1" dirty="0">
                <a:solidFill>
                  <a:schemeClr val="accent2"/>
                </a:solidFill>
              </a:rPr>
              <a:t>Also created the customer_segments table for Python results</a:t>
            </a:r>
            <a:endParaRPr lang="en-US" sz="1400" dirty="0"/>
          </a:p>
        </p:txBody>
      </p:sp>
      <p:sp>
        <p:nvSpPr>
          <p:cNvPr id="34" name="Chart panel"/>
          <p:cNvSpPr/>
          <p:nvPr/>
        </p:nvSpPr>
        <p:spPr>
          <a:xfrm>
            <a:off x="6309360" y="1463040"/>
            <a:ext cx="5303520" cy="4663440"/>
          </a:xfrm>
          <a:prstGeom prst="roundRect">
            <a:avLst>
              <a:gd name="adj" fmla="val 2353"/>
            </a:avLst>
          </a:prstGeom>
          <a:solidFill>
            <a:schemeClr val="bg2"/>
          </a:solidFill>
          <a:ln w="12700">
            <a:solidFill>
              <a:schemeClr val="bg2"/>
            </a:solidFill>
            <a:prstDash val="solid"/>
          </a:ln>
        </p:spPr>
      </p:sp>
      <p:graphicFrame>
        <p:nvGraphicFramePr>
          <p:cNvPr id="35" name="Chart 0"/>
          <p:cNvGraphicFramePr/>
          <p:nvPr/>
        </p:nvGraphicFramePr>
        <p:xfrm>
          <a:off x="6400800" y="1554480"/>
          <a:ext cx="5120640" cy="4480560"/>
        </p:xfrm>
        <a:graphic>
          <a:graphicData uri="http://schemas.openxmlformats.org/drawingml/2006/chart">
            <c:chart xmlns:c="http://schemas.openxmlformats.org/drawingml/2006/chart" xmlns:r="http://schemas.openxmlformats.org/officeDocument/2006/relationships" r:id="rId9"/>
          </a:graphicData>
        </a:graphic>
      </p:graphicFrame>
      <p:sp>
        <p:nvSpPr>
          <p:cNvPr id="3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Phase 3 · Python RFM Segmentation</a:t>
            </a:r>
            <a:endParaRPr lang="en-US" sz="3400" dirty="0"/>
          </a:p>
        </p:txBody>
      </p:sp>
      <p:sp>
        <p:nvSpPr>
          <p:cNvPr id="3" name="Step circle 1"/>
          <p:cNvSpPr/>
          <p:nvPr/>
        </p:nvSpPr>
        <p:spPr>
          <a:xfrm>
            <a:off x="548640" y="1645920"/>
            <a:ext cx="640080" cy="640080"/>
          </a:xfrm>
          <a:prstGeom prst="ellipse">
            <a:avLst/>
          </a:prstGeom>
          <a:solidFill>
            <a:srgbClr val="1F7A8C"/>
          </a:solidFill>
          <a:ln w="12700">
            <a:solidFill>
              <a:srgbClr val="FFFFFF"/>
            </a:solidFill>
            <a:prstDash val="solid"/>
          </a:ln>
        </p:spPr>
      </p:sp>
      <p:sp>
        <p:nvSpPr>
          <p:cNvPr id="4" name="Text 2"/>
          <p:cNvSpPr txBox="1"/>
          <p:nvPr/>
        </p:nvSpPr>
        <p:spPr>
          <a:xfrm>
            <a:off x="548640" y="164592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5" name="Text 3"/>
          <p:cNvSpPr txBox="1"/>
          <p:nvPr/>
        </p:nvSpPr>
        <p:spPr>
          <a:xfrm>
            <a:off x="1463040" y="1554480"/>
            <a:ext cx="4480560" cy="365760"/>
          </a:xfrm>
          <a:prstGeom prst="rect">
            <a:avLst/>
          </a:prstGeom>
          <a:noFill/>
          <a:ln/>
        </p:spPr>
        <p:txBody>
          <a:bodyPr wrap="square" lIns="0" tIns="0" rIns="0" bIns="0" rtlCol="0" anchor="ctr"/>
          <a:lstStyle/>
          <a:p>
            <a:pPr marL="0" indent="0">
              <a:buNone/>
            </a:pPr>
            <a:r>
              <a:rPr lang="en-US" sz="1800" b="1" dirty="0">
                <a:solidFill>
                  <a:schemeClr val="tx2"/>
                </a:solidFill>
              </a:rPr>
              <a:t>Connect</a:t>
            </a:r>
            <a:endParaRPr lang="en-US" sz="1800" dirty="0"/>
          </a:p>
        </p:txBody>
      </p:sp>
      <p:sp>
        <p:nvSpPr>
          <p:cNvPr id="6" name="Text 4"/>
          <p:cNvSpPr txBox="1"/>
          <p:nvPr/>
        </p:nvSpPr>
        <p:spPr>
          <a:xfrm>
            <a:off x="1463040" y="1938528"/>
            <a:ext cx="4480560" cy="594360"/>
          </a:xfrm>
          <a:prstGeom prst="rect">
            <a:avLst/>
          </a:prstGeom>
          <a:noFill/>
          <a:ln/>
        </p:spPr>
        <p:txBody>
          <a:bodyPr wrap="square" lIns="0" tIns="0" rIns="0" bIns="0" rtlCol="0" anchor="t"/>
          <a:lstStyle/>
          <a:p>
            <a:pPr marL="0" indent="0">
              <a:buNone/>
            </a:pPr>
            <a:r>
              <a:rPr lang="en-US" sz="1400" dirty="0">
                <a:solidFill>
                  <a:schemeClr val="tx1"/>
                </a:solidFill>
              </a:rPr>
              <a:t>SQLAlchemy + PyMySQL load the MySQL tables into pandas</a:t>
            </a:r>
            <a:endParaRPr lang="en-US" sz="1400" dirty="0"/>
          </a:p>
        </p:txBody>
      </p:sp>
      <p:sp>
        <p:nvSpPr>
          <p:cNvPr id="7" name="Step circle 2"/>
          <p:cNvSpPr/>
          <p:nvPr/>
        </p:nvSpPr>
        <p:spPr>
          <a:xfrm>
            <a:off x="548640" y="2743200"/>
            <a:ext cx="640080" cy="640080"/>
          </a:xfrm>
          <a:prstGeom prst="ellipse">
            <a:avLst/>
          </a:prstGeom>
          <a:solidFill>
            <a:srgbClr val="F26B21"/>
          </a:solidFill>
          <a:ln w="12700">
            <a:solidFill>
              <a:srgbClr val="FFFFFF"/>
            </a:solidFill>
            <a:prstDash val="solid"/>
          </a:ln>
        </p:spPr>
      </p:sp>
      <p:sp>
        <p:nvSpPr>
          <p:cNvPr id="8" name="Text 6"/>
          <p:cNvSpPr txBox="1"/>
          <p:nvPr/>
        </p:nvSpPr>
        <p:spPr>
          <a:xfrm>
            <a:off x="548640" y="274320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9" name="Text 7"/>
          <p:cNvSpPr txBox="1"/>
          <p:nvPr/>
        </p:nvSpPr>
        <p:spPr>
          <a:xfrm>
            <a:off x="1463040" y="2651760"/>
            <a:ext cx="4480560" cy="365760"/>
          </a:xfrm>
          <a:prstGeom prst="rect">
            <a:avLst/>
          </a:prstGeom>
          <a:noFill/>
          <a:ln/>
        </p:spPr>
        <p:txBody>
          <a:bodyPr wrap="square" lIns="0" tIns="0" rIns="0" bIns="0" rtlCol="0" anchor="ctr"/>
          <a:lstStyle/>
          <a:p>
            <a:pPr marL="0" indent="0">
              <a:buNone/>
            </a:pPr>
            <a:r>
              <a:rPr lang="en-US" sz="1800" b="1" dirty="0">
                <a:solidFill>
                  <a:schemeClr val="tx2"/>
                </a:solidFill>
              </a:rPr>
              <a:t>Calculate RFM</a:t>
            </a:r>
            <a:endParaRPr lang="en-US" sz="1800" dirty="0"/>
          </a:p>
        </p:txBody>
      </p:sp>
      <p:sp>
        <p:nvSpPr>
          <p:cNvPr id="10" name="Text 8"/>
          <p:cNvSpPr txBox="1"/>
          <p:nvPr/>
        </p:nvSpPr>
        <p:spPr>
          <a:xfrm>
            <a:off x="1463040" y="3035808"/>
            <a:ext cx="4480560" cy="594360"/>
          </a:xfrm>
          <a:prstGeom prst="rect">
            <a:avLst/>
          </a:prstGeom>
          <a:noFill/>
          <a:ln/>
        </p:spPr>
        <p:txBody>
          <a:bodyPr wrap="square" lIns="0" tIns="0" rIns="0" bIns="0" rtlCol="0" anchor="t"/>
          <a:lstStyle/>
          <a:p>
            <a:pPr marL="0" indent="0">
              <a:buNone/>
            </a:pPr>
            <a:r>
              <a:rPr lang="en-US" sz="1400" dirty="0">
                <a:solidFill>
                  <a:schemeClr val="tx1"/>
                </a:solidFill>
              </a:rPr>
              <a:t>Recency (days since last order), Frequency (orders), Monetary (total spend)</a:t>
            </a:r>
            <a:endParaRPr lang="en-US" sz="1400" dirty="0"/>
          </a:p>
        </p:txBody>
      </p:sp>
      <p:sp>
        <p:nvSpPr>
          <p:cNvPr id="11" name="Step circle 3"/>
          <p:cNvSpPr/>
          <p:nvPr/>
        </p:nvSpPr>
        <p:spPr>
          <a:xfrm>
            <a:off x="548640" y="3840480"/>
            <a:ext cx="640080" cy="640080"/>
          </a:xfrm>
          <a:prstGeom prst="ellipse">
            <a:avLst/>
          </a:prstGeom>
          <a:solidFill>
            <a:srgbClr val="2E9E6B"/>
          </a:solidFill>
          <a:ln w="12700">
            <a:solidFill>
              <a:srgbClr val="FFFFFF"/>
            </a:solidFill>
            <a:prstDash val="solid"/>
          </a:ln>
        </p:spPr>
      </p:sp>
      <p:sp>
        <p:nvSpPr>
          <p:cNvPr id="12" name="Text 10"/>
          <p:cNvSpPr txBox="1"/>
          <p:nvPr/>
        </p:nvSpPr>
        <p:spPr>
          <a:xfrm>
            <a:off x="548640" y="384048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3" name="Text 11"/>
          <p:cNvSpPr txBox="1"/>
          <p:nvPr/>
        </p:nvSpPr>
        <p:spPr>
          <a:xfrm>
            <a:off x="1463040" y="3749040"/>
            <a:ext cx="4480560" cy="365760"/>
          </a:xfrm>
          <a:prstGeom prst="rect">
            <a:avLst/>
          </a:prstGeom>
          <a:noFill/>
          <a:ln/>
        </p:spPr>
        <p:txBody>
          <a:bodyPr wrap="square" lIns="0" tIns="0" rIns="0" bIns="0" rtlCol="0" anchor="ctr"/>
          <a:lstStyle/>
          <a:p>
            <a:pPr marL="0" indent="0">
              <a:buNone/>
            </a:pPr>
            <a:r>
              <a:rPr lang="en-US" sz="1800" b="1" dirty="0">
                <a:solidFill>
                  <a:schemeClr val="tx2"/>
                </a:solidFill>
              </a:rPr>
              <a:t>Segment</a:t>
            </a:r>
            <a:endParaRPr lang="en-US" sz="1800" dirty="0"/>
          </a:p>
        </p:txBody>
      </p:sp>
      <p:sp>
        <p:nvSpPr>
          <p:cNvPr id="14" name="Text 12"/>
          <p:cNvSpPr txBox="1"/>
          <p:nvPr/>
        </p:nvSpPr>
        <p:spPr>
          <a:xfrm>
            <a:off x="1463040" y="4133088"/>
            <a:ext cx="4480560" cy="594360"/>
          </a:xfrm>
          <a:prstGeom prst="rect">
            <a:avLst/>
          </a:prstGeom>
          <a:noFill/>
          <a:ln/>
        </p:spPr>
        <p:txBody>
          <a:bodyPr wrap="square" lIns="0" tIns="0" rIns="0" bIns="0" rtlCol="0" anchor="t"/>
          <a:lstStyle/>
          <a:p>
            <a:pPr marL="0" indent="0">
              <a:buNone/>
            </a:pPr>
            <a:r>
              <a:rPr lang="en-US" sz="1400" dirty="0">
                <a:solidFill>
                  <a:schemeClr val="tx1"/>
                </a:solidFill>
              </a:rPr>
              <a:t>Low up to $20K, Medium $20K–30K, High above $30K total spend</a:t>
            </a:r>
            <a:endParaRPr lang="en-US" sz="1400" dirty="0"/>
          </a:p>
        </p:txBody>
      </p:sp>
      <p:sp>
        <p:nvSpPr>
          <p:cNvPr id="15" name="Step circle 4"/>
          <p:cNvSpPr/>
          <p:nvPr/>
        </p:nvSpPr>
        <p:spPr>
          <a:xfrm>
            <a:off x="548640" y="4937760"/>
            <a:ext cx="640080" cy="640080"/>
          </a:xfrm>
          <a:prstGeom prst="ellipse">
            <a:avLst/>
          </a:prstGeom>
          <a:solidFill>
            <a:srgbClr val="1F7A8C"/>
          </a:solidFill>
          <a:ln w="12700">
            <a:solidFill>
              <a:srgbClr val="FFFFFF"/>
            </a:solidFill>
            <a:prstDash val="solid"/>
          </a:ln>
        </p:spPr>
      </p:sp>
      <p:sp>
        <p:nvSpPr>
          <p:cNvPr id="16" name="Text 14"/>
          <p:cNvSpPr txBox="1"/>
          <p:nvPr/>
        </p:nvSpPr>
        <p:spPr>
          <a:xfrm>
            <a:off x="548640" y="493776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rPr>
              <a:t>4</a:t>
            </a:r>
            <a:endParaRPr lang="en-US" sz="2400" dirty="0"/>
          </a:p>
        </p:txBody>
      </p:sp>
      <p:sp>
        <p:nvSpPr>
          <p:cNvPr id="17" name="Text 15"/>
          <p:cNvSpPr txBox="1"/>
          <p:nvPr/>
        </p:nvSpPr>
        <p:spPr>
          <a:xfrm>
            <a:off x="1463040" y="4846320"/>
            <a:ext cx="4480560" cy="365760"/>
          </a:xfrm>
          <a:prstGeom prst="rect">
            <a:avLst/>
          </a:prstGeom>
          <a:noFill/>
          <a:ln/>
        </p:spPr>
        <p:txBody>
          <a:bodyPr wrap="square" lIns="0" tIns="0" rIns="0" bIns="0" rtlCol="0" anchor="ctr"/>
          <a:lstStyle/>
          <a:p>
            <a:pPr marL="0" indent="0">
              <a:buNone/>
            </a:pPr>
            <a:r>
              <a:rPr lang="en-US" sz="1800" b="1" dirty="0">
                <a:solidFill>
                  <a:schemeClr val="tx2"/>
                </a:solidFill>
              </a:rPr>
              <a:t>Export</a:t>
            </a:r>
            <a:endParaRPr lang="en-US" sz="1800" dirty="0"/>
          </a:p>
        </p:txBody>
      </p:sp>
      <p:sp>
        <p:nvSpPr>
          <p:cNvPr id="18" name="Text 16"/>
          <p:cNvSpPr txBox="1"/>
          <p:nvPr/>
        </p:nvSpPr>
        <p:spPr>
          <a:xfrm>
            <a:off x="1463040" y="5230368"/>
            <a:ext cx="4480560" cy="594360"/>
          </a:xfrm>
          <a:prstGeom prst="rect">
            <a:avLst/>
          </a:prstGeom>
          <a:noFill/>
          <a:ln/>
        </p:spPr>
        <p:txBody>
          <a:bodyPr wrap="square" lIns="0" tIns="0" rIns="0" bIns="0" rtlCol="0" anchor="t"/>
          <a:lstStyle/>
          <a:p>
            <a:pPr marL="0" indent="0">
              <a:buNone/>
            </a:pPr>
            <a:r>
              <a:rPr lang="en-US" sz="1400" dirty="0">
                <a:solidFill>
                  <a:schemeClr val="tx1"/>
                </a:solidFill>
              </a:rPr>
              <a:t>Saved to MySQL as customer_segments for Power BI</a:t>
            </a:r>
            <a:endParaRPr lang="en-US" sz="1400" dirty="0"/>
          </a:p>
        </p:txBody>
      </p:sp>
      <p:sp>
        <p:nvSpPr>
          <p:cNvPr id="19" name="Chart panel"/>
          <p:cNvSpPr/>
          <p:nvPr/>
        </p:nvSpPr>
        <p:spPr>
          <a:xfrm>
            <a:off x="6309360" y="1463040"/>
            <a:ext cx="5303520" cy="3611880"/>
          </a:xfrm>
          <a:prstGeom prst="roundRect">
            <a:avLst>
              <a:gd name="adj" fmla="val 3038"/>
            </a:avLst>
          </a:prstGeom>
          <a:solidFill>
            <a:schemeClr val="bg2"/>
          </a:solidFill>
          <a:ln w="12700">
            <a:solidFill>
              <a:schemeClr val="bg2"/>
            </a:solidFill>
            <a:prstDash val="solid"/>
          </a:ln>
        </p:spPr>
      </p:sp>
      <p:graphicFrame>
        <p:nvGraphicFramePr>
          <p:cNvPr id="20" name="Chart 0"/>
          <p:cNvGraphicFramePr/>
          <p:nvPr/>
        </p:nvGraphicFramePr>
        <p:xfrm>
          <a:off x="6400800" y="1508760"/>
          <a:ext cx="512064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21" name="Insight callout"/>
          <p:cNvSpPr/>
          <p:nvPr/>
        </p:nvSpPr>
        <p:spPr>
          <a:xfrm>
            <a:off x="6309360" y="5257800"/>
            <a:ext cx="5303520" cy="868680"/>
          </a:xfrm>
          <a:prstGeom prst="roundRect">
            <a:avLst>
              <a:gd name="adj" fmla="val 12632"/>
            </a:avLst>
          </a:prstGeom>
          <a:solidFill>
            <a:schemeClr val="tx2"/>
          </a:solidFill>
          <a:ln w="12700">
            <a:solidFill>
              <a:schemeClr val="tx2"/>
            </a:solidFill>
            <a:prstDash val="solid"/>
          </a:ln>
        </p:spPr>
      </p:sp>
      <p:sp>
        <p:nvSpPr>
          <p:cNvPr id="22" name="Text 19"/>
          <p:cNvSpPr txBox="1"/>
          <p:nvPr/>
        </p:nvSpPr>
        <p:spPr>
          <a:xfrm>
            <a:off x="6492240" y="5257800"/>
            <a:ext cx="4937760" cy="868680"/>
          </a:xfrm>
          <a:prstGeom prst="rect">
            <a:avLst/>
          </a:prstGeom>
          <a:noFill/>
          <a:ln/>
        </p:spPr>
        <p:txBody>
          <a:bodyPr wrap="square" lIns="0" tIns="0" rIns="0" bIns="0" rtlCol="0" anchor="ctr"/>
          <a:lstStyle/>
          <a:p>
            <a:pPr marL="0" indent="0">
              <a:buNone/>
            </a:pPr>
            <a:r>
              <a:rPr lang="en-US" sz="1600" b="1" dirty="0">
                <a:solidFill>
                  <a:schemeClr val="bg1"/>
                </a:solidFill>
              </a:rPr>
              <a:t>97% of customers fall in the Low segment; only 7 are High</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Phase 4 · Power BI Dashboard</a:t>
            </a:r>
            <a:endParaRPr lang="en-US" sz="3400" dirty="0"/>
          </a:p>
        </p:txBody>
      </p:sp>
      <p:sp>
        <p:nvSpPr>
          <p:cNvPr id="3" name="KPI Total revenue"/>
          <p:cNvSpPr/>
          <p:nvPr/>
        </p:nvSpPr>
        <p:spPr>
          <a:xfrm>
            <a:off x="548640" y="1463040"/>
            <a:ext cx="2606040" cy="1188720"/>
          </a:xfrm>
          <a:prstGeom prst="roundRect">
            <a:avLst>
              <a:gd name="adj" fmla="val 9231"/>
            </a:avLst>
          </a:prstGeom>
          <a:solidFill>
            <a:schemeClr val="bg2"/>
          </a:solidFill>
          <a:ln w="12700">
            <a:solidFill>
              <a:schemeClr val="bg2"/>
            </a:solidFill>
            <a:prstDash val="solid"/>
          </a:ln>
        </p:spPr>
      </p:sp>
      <p:sp>
        <p:nvSpPr>
          <p:cNvPr id="4" name="Text 2"/>
          <p:cNvSpPr txBox="1"/>
          <p:nvPr/>
        </p:nvSpPr>
        <p:spPr>
          <a:xfrm>
            <a:off x="777240" y="1554480"/>
            <a:ext cx="2194560" cy="594360"/>
          </a:xfrm>
          <a:prstGeom prst="rect">
            <a:avLst/>
          </a:prstGeom>
          <a:noFill/>
          <a:ln/>
        </p:spPr>
        <p:txBody>
          <a:bodyPr wrap="square" lIns="0" tIns="0" rIns="0" bIns="0" rtlCol="0" anchor="ctr"/>
          <a:lstStyle/>
          <a:p>
            <a:pPr marL="0" indent="0">
              <a:buNone/>
            </a:pPr>
            <a:r>
              <a:rPr lang="en-US" sz="3200" b="1" dirty="0">
                <a:solidFill>
                  <a:schemeClr val="tx2"/>
                </a:solidFill>
              </a:rPr>
              <a:t>$8.58M</a:t>
            </a:r>
            <a:endParaRPr lang="en-US" sz="3200" dirty="0"/>
          </a:p>
        </p:txBody>
      </p:sp>
      <p:sp>
        <p:nvSpPr>
          <p:cNvPr id="5" name="Text 3"/>
          <p:cNvSpPr txBox="1"/>
          <p:nvPr/>
        </p:nvSpPr>
        <p:spPr>
          <a:xfrm>
            <a:off x="777240" y="2148840"/>
            <a:ext cx="2194560" cy="365760"/>
          </a:xfrm>
          <a:prstGeom prst="rect">
            <a:avLst/>
          </a:prstGeom>
          <a:noFill/>
          <a:ln/>
        </p:spPr>
        <p:txBody>
          <a:bodyPr wrap="square" lIns="0" tIns="0" rIns="0" bIns="0" rtlCol="0" anchor="ctr"/>
          <a:lstStyle/>
          <a:p>
            <a:pPr marL="0" indent="0">
              <a:buNone/>
            </a:pPr>
            <a:r>
              <a:rPr lang="en-US" sz="1400" dirty="0">
                <a:solidFill>
                  <a:schemeClr val="tx1"/>
                </a:solidFill>
              </a:rPr>
              <a:t>Total revenue</a:t>
            </a:r>
            <a:endParaRPr lang="en-US" sz="1400" dirty="0"/>
          </a:p>
        </p:txBody>
      </p:sp>
      <p:sp>
        <p:nvSpPr>
          <p:cNvPr id="6" name="KPI Total customers"/>
          <p:cNvSpPr/>
          <p:nvPr/>
        </p:nvSpPr>
        <p:spPr>
          <a:xfrm>
            <a:off x="3374136" y="1463040"/>
            <a:ext cx="2606040" cy="1188720"/>
          </a:xfrm>
          <a:prstGeom prst="roundRect">
            <a:avLst>
              <a:gd name="adj" fmla="val 9231"/>
            </a:avLst>
          </a:prstGeom>
          <a:solidFill>
            <a:schemeClr val="bg2"/>
          </a:solidFill>
          <a:ln w="12700">
            <a:solidFill>
              <a:schemeClr val="bg2"/>
            </a:solidFill>
            <a:prstDash val="solid"/>
          </a:ln>
        </p:spPr>
      </p:sp>
      <p:sp>
        <p:nvSpPr>
          <p:cNvPr id="7" name="Text 5"/>
          <p:cNvSpPr txBox="1"/>
          <p:nvPr/>
        </p:nvSpPr>
        <p:spPr>
          <a:xfrm>
            <a:off x="3602736" y="1554480"/>
            <a:ext cx="2194560" cy="594360"/>
          </a:xfrm>
          <a:prstGeom prst="rect">
            <a:avLst/>
          </a:prstGeom>
          <a:noFill/>
          <a:ln/>
        </p:spPr>
        <p:txBody>
          <a:bodyPr wrap="square" lIns="0" tIns="0" rIns="0" bIns="0" rtlCol="0" anchor="ctr"/>
          <a:lstStyle/>
          <a:p>
            <a:pPr marL="0" indent="0">
              <a:buNone/>
            </a:pPr>
            <a:r>
              <a:rPr lang="en-US" sz="3200" b="1" dirty="0">
                <a:solidFill>
                  <a:schemeClr val="tx2"/>
                </a:solidFill>
              </a:rPr>
              <a:t>1,445</a:t>
            </a:r>
            <a:endParaRPr lang="en-US" sz="3200" dirty="0"/>
          </a:p>
        </p:txBody>
      </p:sp>
      <p:sp>
        <p:nvSpPr>
          <p:cNvPr id="8" name="Text 6"/>
          <p:cNvSpPr txBox="1"/>
          <p:nvPr/>
        </p:nvSpPr>
        <p:spPr>
          <a:xfrm>
            <a:off x="3602736" y="2148840"/>
            <a:ext cx="2194560" cy="365760"/>
          </a:xfrm>
          <a:prstGeom prst="rect">
            <a:avLst/>
          </a:prstGeom>
          <a:noFill/>
          <a:ln/>
        </p:spPr>
        <p:txBody>
          <a:bodyPr wrap="square" lIns="0" tIns="0" rIns="0" bIns="0" rtlCol="0" anchor="ctr"/>
          <a:lstStyle/>
          <a:p>
            <a:pPr marL="0" indent="0">
              <a:buNone/>
            </a:pPr>
            <a:r>
              <a:rPr lang="en-US" sz="1400" dirty="0">
                <a:solidFill>
                  <a:schemeClr val="tx1"/>
                </a:solidFill>
              </a:rPr>
              <a:t>Total customers</a:t>
            </a:r>
            <a:endParaRPr lang="en-US" sz="1400" dirty="0"/>
          </a:p>
        </p:txBody>
      </p:sp>
      <p:sp>
        <p:nvSpPr>
          <p:cNvPr id="9" name="KPI Total orders"/>
          <p:cNvSpPr/>
          <p:nvPr/>
        </p:nvSpPr>
        <p:spPr>
          <a:xfrm>
            <a:off x="6199632" y="1463040"/>
            <a:ext cx="2606040" cy="1188720"/>
          </a:xfrm>
          <a:prstGeom prst="roundRect">
            <a:avLst>
              <a:gd name="adj" fmla="val 9231"/>
            </a:avLst>
          </a:prstGeom>
          <a:solidFill>
            <a:schemeClr val="bg2"/>
          </a:solidFill>
          <a:ln w="12700">
            <a:solidFill>
              <a:schemeClr val="bg2"/>
            </a:solidFill>
            <a:prstDash val="solid"/>
          </a:ln>
        </p:spPr>
      </p:sp>
      <p:sp>
        <p:nvSpPr>
          <p:cNvPr id="10" name="Text 8"/>
          <p:cNvSpPr txBox="1"/>
          <p:nvPr/>
        </p:nvSpPr>
        <p:spPr>
          <a:xfrm>
            <a:off x="6428232" y="1554480"/>
            <a:ext cx="2194560" cy="594360"/>
          </a:xfrm>
          <a:prstGeom prst="rect">
            <a:avLst/>
          </a:prstGeom>
          <a:noFill/>
          <a:ln/>
        </p:spPr>
        <p:txBody>
          <a:bodyPr wrap="square" lIns="0" tIns="0" rIns="0" bIns="0" rtlCol="0" anchor="ctr"/>
          <a:lstStyle/>
          <a:p>
            <a:pPr marL="0" indent="0">
              <a:buNone/>
            </a:pPr>
            <a:r>
              <a:rPr lang="en-US" sz="3200" b="1" dirty="0">
                <a:solidFill>
                  <a:schemeClr val="tx2"/>
                </a:solidFill>
              </a:rPr>
              <a:t>1,615</a:t>
            </a:r>
            <a:endParaRPr lang="en-US" sz="3200" dirty="0"/>
          </a:p>
        </p:txBody>
      </p:sp>
      <p:sp>
        <p:nvSpPr>
          <p:cNvPr id="11" name="Text 9"/>
          <p:cNvSpPr txBox="1"/>
          <p:nvPr/>
        </p:nvSpPr>
        <p:spPr>
          <a:xfrm>
            <a:off x="6428232" y="2148840"/>
            <a:ext cx="2194560" cy="365760"/>
          </a:xfrm>
          <a:prstGeom prst="rect">
            <a:avLst/>
          </a:prstGeom>
          <a:noFill/>
          <a:ln/>
        </p:spPr>
        <p:txBody>
          <a:bodyPr wrap="square" lIns="0" tIns="0" rIns="0" bIns="0" rtlCol="0" anchor="ctr"/>
          <a:lstStyle/>
          <a:p>
            <a:pPr marL="0" indent="0">
              <a:buNone/>
            </a:pPr>
            <a:r>
              <a:rPr lang="en-US" sz="1400" dirty="0">
                <a:solidFill>
                  <a:schemeClr val="tx1"/>
                </a:solidFill>
              </a:rPr>
              <a:t>Total orders</a:t>
            </a:r>
            <a:endParaRPr lang="en-US" sz="1400" dirty="0"/>
          </a:p>
        </p:txBody>
      </p:sp>
      <p:sp>
        <p:nvSpPr>
          <p:cNvPr id="12" name="KPI Average order value"/>
          <p:cNvSpPr/>
          <p:nvPr/>
        </p:nvSpPr>
        <p:spPr>
          <a:xfrm>
            <a:off x="9025128" y="1463040"/>
            <a:ext cx="2606040" cy="1188720"/>
          </a:xfrm>
          <a:prstGeom prst="roundRect">
            <a:avLst>
              <a:gd name="adj" fmla="val 9231"/>
            </a:avLst>
          </a:prstGeom>
          <a:solidFill>
            <a:schemeClr val="bg2"/>
          </a:solidFill>
          <a:ln w="12700">
            <a:solidFill>
              <a:schemeClr val="bg2"/>
            </a:solidFill>
            <a:prstDash val="solid"/>
          </a:ln>
        </p:spPr>
      </p:sp>
      <p:sp>
        <p:nvSpPr>
          <p:cNvPr id="13" name="Text 11"/>
          <p:cNvSpPr txBox="1"/>
          <p:nvPr/>
        </p:nvSpPr>
        <p:spPr>
          <a:xfrm>
            <a:off x="9253728" y="1554480"/>
            <a:ext cx="2194560" cy="594360"/>
          </a:xfrm>
          <a:prstGeom prst="rect">
            <a:avLst/>
          </a:prstGeom>
          <a:noFill/>
          <a:ln/>
        </p:spPr>
        <p:txBody>
          <a:bodyPr wrap="square" lIns="0" tIns="0" rIns="0" bIns="0" rtlCol="0" anchor="ctr"/>
          <a:lstStyle/>
          <a:p>
            <a:pPr marL="0" indent="0">
              <a:buNone/>
            </a:pPr>
            <a:r>
              <a:rPr lang="en-US" sz="3200" b="1" dirty="0">
                <a:solidFill>
                  <a:schemeClr val="tx2"/>
                </a:solidFill>
              </a:rPr>
              <a:t>$5,312</a:t>
            </a:r>
            <a:endParaRPr lang="en-US" sz="3200" dirty="0"/>
          </a:p>
        </p:txBody>
      </p:sp>
      <p:sp>
        <p:nvSpPr>
          <p:cNvPr id="14" name="Text 12"/>
          <p:cNvSpPr txBox="1"/>
          <p:nvPr/>
        </p:nvSpPr>
        <p:spPr>
          <a:xfrm>
            <a:off x="9253728" y="2148840"/>
            <a:ext cx="2194560" cy="365760"/>
          </a:xfrm>
          <a:prstGeom prst="rect">
            <a:avLst/>
          </a:prstGeom>
          <a:noFill/>
          <a:ln/>
        </p:spPr>
        <p:txBody>
          <a:bodyPr wrap="square" lIns="0" tIns="0" rIns="0" bIns="0" rtlCol="0" anchor="ctr"/>
          <a:lstStyle/>
          <a:p>
            <a:pPr marL="0" indent="0">
              <a:buNone/>
            </a:pPr>
            <a:r>
              <a:rPr lang="en-US" sz="1400" dirty="0">
                <a:solidFill>
                  <a:schemeClr val="tx1"/>
                </a:solidFill>
              </a:rPr>
              <a:t>Average order value</a:t>
            </a:r>
            <a:endParaRPr lang="en-US" sz="1400" dirty="0"/>
          </a:p>
        </p:txBody>
      </p:sp>
      <p:sp>
        <p:nvSpPr>
          <p:cNvPr id="15" name="Panel Page 1 · Sales Overview"/>
          <p:cNvSpPr/>
          <p:nvPr/>
        </p:nvSpPr>
        <p:spPr>
          <a:xfrm>
            <a:off x="548640" y="2926080"/>
            <a:ext cx="5394960" cy="3200400"/>
          </a:xfrm>
          <a:prstGeom prst="roundRect">
            <a:avLst>
              <a:gd name="adj" fmla="val 3429"/>
            </a:avLst>
          </a:prstGeom>
          <a:solidFill>
            <a:schemeClr val="bg2"/>
          </a:solidFill>
          <a:ln w="12700">
            <a:solidFill>
              <a:schemeClr val="bg2"/>
            </a:solidFill>
            <a:prstDash val="solid"/>
          </a:ln>
        </p:spPr>
      </p:sp>
      <p:sp>
        <p:nvSpPr>
          <p:cNvPr id="16" name="Page 1 · Sales Overview circle"/>
          <p:cNvSpPr/>
          <p:nvPr/>
        </p:nvSpPr>
        <p:spPr>
          <a:xfrm>
            <a:off x="822960" y="3108960"/>
            <a:ext cx="548640" cy="548640"/>
          </a:xfrm>
          <a:prstGeom prst="ellipse">
            <a:avLst/>
          </a:prstGeom>
          <a:solidFill>
            <a:srgbClr val="1F7A8C"/>
          </a:solidFill>
          <a:ln w="12700">
            <a:solidFill>
              <a:srgbClr val="1F7A8C"/>
            </a:solidFill>
            <a:prstDash val="solid"/>
          </a:ln>
        </p:spPr>
      </p:sp>
      <p:pic>
        <p:nvPicPr>
          <p:cNvPr id="17" name="Page 1 · Sales Overview icon" descr="Page 1 · Sales Overview"/>
          <p:cNvPicPr>
            <a:picLocks noChangeAspect="1"/>
          </p:cNvPicPr>
          <p:nvPr/>
        </p:nvPicPr>
        <p:blipFill>
          <a:blip r:embed="rId3"/>
          <a:stretch>
            <a:fillRect/>
          </a:stretch>
        </p:blipFill>
        <p:spPr>
          <a:xfrm>
            <a:off x="971093" y="3257093"/>
            <a:ext cx="252374" cy="252374"/>
          </a:xfrm>
          <a:prstGeom prst="rect">
            <a:avLst/>
          </a:prstGeom>
        </p:spPr>
      </p:pic>
      <p:sp>
        <p:nvSpPr>
          <p:cNvPr id="18" name="Text 15"/>
          <p:cNvSpPr txBox="1"/>
          <p:nvPr/>
        </p:nvSpPr>
        <p:spPr>
          <a:xfrm>
            <a:off x="1554480" y="3108960"/>
            <a:ext cx="4206240" cy="548640"/>
          </a:xfrm>
          <a:prstGeom prst="rect">
            <a:avLst/>
          </a:prstGeom>
          <a:noFill/>
          <a:ln/>
        </p:spPr>
        <p:txBody>
          <a:bodyPr wrap="square" lIns="0" tIns="0" rIns="0" bIns="0" rtlCol="0" anchor="ctr"/>
          <a:lstStyle/>
          <a:p>
            <a:pPr marL="0" indent="0">
              <a:buNone/>
            </a:pPr>
            <a:r>
              <a:rPr lang="en-US" sz="2000" b="1" dirty="0">
                <a:solidFill>
                  <a:schemeClr val="tx2"/>
                </a:solidFill>
              </a:rPr>
              <a:t>Page 1 · Sales Overview</a:t>
            </a:r>
            <a:endParaRPr lang="en-US" sz="2000" dirty="0"/>
          </a:p>
        </p:txBody>
      </p:sp>
      <p:sp>
        <p:nvSpPr>
          <p:cNvPr id="19" name="Text 16"/>
          <p:cNvSpPr txBox="1"/>
          <p:nvPr/>
        </p:nvSpPr>
        <p:spPr>
          <a:xfrm>
            <a:off x="868680" y="3840480"/>
            <a:ext cx="475488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Total sales by month</a:t>
            </a:r>
            <a:endParaRPr lang="en-US" sz="1600" dirty="0"/>
          </a:p>
          <a:p>
            <a:pPr marL="342900" indent="-342900">
              <a:spcAft>
                <a:spcPts val="800"/>
              </a:spcAft>
              <a:buSzPct val="100000"/>
              <a:buChar char="•"/>
            </a:pPr>
            <a:r>
              <a:rPr lang="en-US" sz="1600" dirty="0">
                <a:solidFill>
                  <a:schemeClr val="tx1"/>
                </a:solidFill>
              </a:rPr>
              <a:t>Orders by state</a:t>
            </a:r>
            <a:endParaRPr lang="en-US" sz="1600" dirty="0"/>
          </a:p>
          <a:p>
            <a:pPr marL="342900" indent="-342900">
              <a:spcAft>
                <a:spcPts val="800"/>
              </a:spcAft>
              <a:buSzPct val="100000"/>
              <a:buChar char="•"/>
            </a:pPr>
            <a:r>
              <a:rPr lang="en-US" sz="1600" dirty="0">
                <a:solidFill>
                  <a:schemeClr val="tx1"/>
                </a:solidFill>
              </a:rPr>
              <a:t>Category slicer for filtering</a:t>
            </a:r>
            <a:endParaRPr lang="en-US" sz="1600" dirty="0"/>
          </a:p>
        </p:txBody>
      </p:sp>
      <p:sp>
        <p:nvSpPr>
          <p:cNvPr id="20" name="Panel Page 2 · Sales Analysis"/>
          <p:cNvSpPr/>
          <p:nvPr/>
        </p:nvSpPr>
        <p:spPr>
          <a:xfrm>
            <a:off x="6217920" y="2926080"/>
            <a:ext cx="5394960" cy="3200400"/>
          </a:xfrm>
          <a:prstGeom prst="roundRect">
            <a:avLst>
              <a:gd name="adj" fmla="val 3429"/>
            </a:avLst>
          </a:prstGeom>
          <a:solidFill>
            <a:schemeClr val="bg2"/>
          </a:solidFill>
          <a:ln w="12700">
            <a:solidFill>
              <a:schemeClr val="bg2"/>
            </a:solidFill>
            <a:prstDash val="solid"/>
          </a:ln>
        </p:spPr>
      </p:sp>
      <p:sp>
        <p:nvSpPr>
          <p:cNvPr id="21" name="Page 2 · Sales Analysis circle"/>
          <p:cNvSpPr/>
          <p:nvPr/>
        </p:nvSpPr>
        <p:spPr>
          <a:xfrm>
            <a:off x="6492240" y="3108960"/>
            <a:ext cx="548640" cy="548640"/>
          </a:xfrm>
          <a:prstGeom prst="ellipse">
            <a:avLst/>
          </a:prstGeom>
          <a:solidFill>
            <a:srgbClr val="F26B21"/>
          </a:solidFill>
          <a:ln w="12700">
            <a:solidFill>
              <a:srgbClr val="F26B21"/>
            </a:solidFill>
            <a:prstDash val="solid"/>
          </a:ln>
        </p:spPr>
      </p:sp>
      <p:pic>
        <p:nvPicPr>
          <p:cNvPr id="22" name="Page 2 · Sales Analysis icon" descr="Page 2 · Sales Analysis"/>
          <p:cNvPicPr>
            <a:picLocks noChangeAspect="1"/>
          </p:cNvPicPr>
          <p:nvPr/>
        </p:nvPicPr>
        <p:blipFill>
          <a:blip r:embed="rId4"/>
          <a:stretch>
            <a:fillRect/>
          </a:stretch>
        </p:blipFill>
        <p:spPr>
          <a:xfrm>
            <a:off x="6640373" y="3257093"/>
            <a:ext cx="252374" cy="252374"/>
          </a:xfrm>
          <a:prstGeom prst="rect">
            <a:avLst/>
          </a:prstGeom>
        </p:spPr>
      </p:pic>
      <p:sp>
        <p:nvSpPr>
          <p:cNvPr id="23" name="Text 19"/>
          <p:cNvSpPr txBox="1"/>
          <p:nvPr/>
        </p:nvSpPr>
        <p:spPr>
          <a:xfrm>
            <a:off x="7223760" y="3108960"/>
            <a:ext cx="4206240" cy="548640"/>
          </a:xfrm>
          <a:prstGeom prst="rect">
            <a:avLst/>
          </a:prstGeom>
          <a:noFill/>
          <a:ln/>
        </p:spPr>
        <p:txBody>
          <a:bodyPr wrap="square" lIns="0" tIns="0" rIns="0" bIns="0" rtlCol="0" anchor="ctr"/>
          <a:lstStyle/>
          <a:p>
            <a:pPr marL="0" indent="0">
              <a:buNone/>
            </a:pPr>
            <a:r>
              <a:rPr lang="en-US" sz="2000" b="1" dirty="0">
                <a:solidFill>
                  <a:schemeClr val="tx2"/>
                </a:solidFill>
              </a:rPr>
              <a:t>Page 2 · Sales Analysis</a:t>
            </a:r>
            <a:endParaRPr lang="en-US" sz="2000" dirty="0"/>
          </a:p>
        </p:txBody>
      </p:sp>
      <p:sp>
        <p:nvSpPr>
          <p:cNvPr id="24" name="Text 20"/>
          <p:cNvSpPr txBox="1"/>
          <p:nvPr/>
        </p:nvSpPr>
        <p:spPr>
          <a:xfrm>
            <a:off x="6537960" y="3840480"/>
            <a:ext cx="475488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Sales per staff member</a:t>
            </a:r>
            <a:endParaRPr lang="en-US" sz="1600" dirty="0"/>
          </a:p>
          <a:p>
            <a:pPr marL="342900" indent="-342900">
              <a:spcAft>
                <a:spcPts val="800"/>
              </a:spcAft>
              <a:buSzPct val="100000"/>
              <a:buChar char="•"/>
            </a:pPr>
            <a:r>
              <a:rPr lang="en-US" sz="1600" dirty="0">
                <a:solidFill>
                  <a:schemeClr val="tx1"/>
                </a:solidFill>
              </a:rPr>
              <a:t>Top products by sales</a:t>
            </a:r>
            <a:endParaRPr lang="en-US" sz="1600" dirty="0"/>
          </a:p>
          <a:p>
            <a:pPr marL="342900" indent="-342900">
              <a:spcAft>
                <a:spcPts val="800"/>
              </a:spcAft>
              <a:buSzPct val="100000"/>
              <a:buChar char="•"/>
            </a:pPr>
            <a:r>
              <a:rPr lang="en-US" sz="1600" dirty="0">
                <a:solidFill>
                  <a:schemeClr val="tx1"/>
                </a:solidFill>
              </a:rPr>
              <a:t>Low stock dashboard</a:t>
            </a:r>
            <a:endParaRPr lang="en-US" sz="1600" dirty="0"/>
          </a:p>
          <a:p>
            <a:pPr marL="342900" indent="-342900">
              <a:spcAft>
                <a:spcPts val="800"/>
              </a:spcAft>
              <a:buSzPct val="100000"/>
              <a:buChar char="•"/>
            </a:pPr>
            <a:r>
              <a:rPr lang="en-US" sz="1600" dirty="0">
                <a:solidFill>
                  <a:schemeClr val="tx1"/>
                </a:solidFill>
              </a:rPr>
              <a:t>Revenue by customer segment</a:t>
            </a:r>
            <a:endParaRPr lang="en-US" sz="1600" dirty="0"/>
          </a:p>
          <a:p>
            <a:pPr marL="342900" indent="-342900">
              <a:spcAft>
                <a:spcPts val="800"/>
              </a:spcAft>
              <a:buSzPct val="100000"/>
              <a:buChar char="•"/>
            </a:pPr>
            <a:r>
              <a:rPr lang="en-US" sz="1600" dirty="0">
                <a:solidFill>
                  <a:schemeClr val="tx1"/>
                </a:solidFill>
              </a:rPr>
              <a:t>Sales by state map</a:t>
            </a:r>
            <a:endParaRPr lang="en-US" sz="1600" dirty="0"/>
          </a:p>
          <a:p>
            <a:pPr marL="342900" indent="-342900">
              <a:spcAft>
                <a:spcPts val="800"/>
              </a:spcAft>
              <a:buSzPct val="100000"/>
              <a:buChar char="•"/>
            </a:pPr>
            <a:r>
              <a:rPr lang="en-US" sz="1600" dirty="0">
                <a:solidFill>
                  <a:schemeClr val="tx1"/>
                </a:solidFill>
              </a:rPr>
              <a:t>Store and order-status slicers</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Key Insights &amp; Recommendations</a:t>
            </a:r>
            <a:endParaRPr lang="en-US" sz="3400" dirty="0"/>
          </a:p>
        </p:txBody>
      </p:sp>
      <p:sp>
        <p:nvSpPr>
          <p:cNvPr id="3" name="Chart panel"/>
          <p:cNvSpPr/>
          <p:nvPr/>
        </p:nvSpPr>
        <p:spPr>
          <a:xfrm>
            <a:off x="548640" y="1463040"/>
            <a:ext cx="5303520" cy="4663440"/>
          </a:xfrm>
          <a:prstGeom prst="roundRect">
            <a:avLst>
              <a:gd name="adj" fmla="val 2353"/>
            </a:avLst>
          </a:prstGeom>
          <a:solidFill>
            <a:schemeClr val="bg2"/>
          </a:solidFill>
          <a:ln w="12700">
            <a:solidFill>
              <a:schemeClr val="bg2"/>
            </a:solidFill>
            <a:prstDash val="solid"/>
          </a:ln>
        </p:spPr>
      </p:sp>
      <p:graphicFrame>
        <p:nvGraphicFramePr>
          <p:cNvPr id="4" name="Chart 0"/>
          <p:cNvGraphicFramePr/>
          <p:nvPr/>
        </p:nvGraphicFramePr>
        <p:xfrm>
          <a:off x="640080" y="1554480"/>
          <a:ext cx="51206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822960" y="5212080"/>
            <a:ext cx="4754880" cy="731520"/>
          </a:xfrm>
          <a:prstGeom prst="rect">
            <a:avLst/>
          </a:prstGeom>
          <a:noFill/>
          <a:ln/>
        </p:spPr>
        <p:txBody>
          <a:bodyPr wrap="square" lIns="0" tIns="0" rIns="0" bIns="0" rtlCol="0" anchor="t"/>
          <a:lstStyle/>
          <a:p>
            <a:pPr marL="0" indent="0">
              <a:buNone/>
            </a:pPr>
            <a:r>
              <a:rPr lang="en-US" sz="1400" dirty="0">
                <a:solidFill>
                  <a:schemeClr val="tx1"/>
                </a:solidFill>
              </a:rPr>
              <a:t>Revenue peaked in 2017 and fell to $2.02M in 2018, which needs a closer look.</a:t>
            </a:r>
            <a:endParaRPr lang="en-US" sz="1400" dirty="0"/>
          </a:p>
        </p:txBody>
      </p:sp>
      <p:sp>
        <p:nvSpPr>
          <p:cNvPr id="6" name="Insight card 1"/>
          <p:cNvSpPr/>
          <p:nvPr/>
        </p:nvSpPr>
        <p:spPr>
          <a:xfrm>
            <a:off x="6217920" y="1463040"/>
            <a:ext cx="5394960" cy="1417320"/>
          </a:xfrm>
          <a:prstGeom prst="roundRect">
            <a:avLst>
              <a:gd name="adj" fmla="val 7742"/>
            </a:avLst>
          </a:prstGeom>
          <a:solidFill>
            <a:schemeClr val="bg2"/>
          </a:solidFill>
          <a:ln w="12700">
            <a:solidFill>
              <a:schemeClr val="bg2"/>
            </a:solidFill>
            <a:prstDash val="solid"/>
          </a:ln>
        </p:spPr>
      </p:sp>
      <p:sp>
        <p:nvSpPr>
          <p:cNvPr id="7" name="Insight 1 circle"/>
          <p:cNvSpPr/>
          <p:nvPr/>
        </p:nvSpPr>
        <p:spPr>
          <a:xfrm>
            <a:off x="6446520" y="1828800"/>
            <a:ext cx="685800" cy="685800"/>
          </a:xfrm>
          <a:prstGeom prst="ellipse">
            <a:avLst/>
          </a:prstGeom>
          <a:solidFill>
            <a:srgbClr val="F26B21"/>
          </a:solidFill>
          <a:ln w="12700">
            <a:solidFill>
              <a:srgbClr val="F26B21"/>
            </a:solidFill>
            <a:prstDash val="solid"/>
          </a:ln>
        </p:spPr>
      </p:sp>
      <p:pic>
        <p:nvPicPr>
          <p:cNvPr id="8" name="Insight 1 icon" descr="Insight 1"/>
          <p:cNvPicPr>
            <a:picLocks noChangeAspect="1"/>
          </p:cNvPicPr>
          <p:nvPr/>
        </p:nvPicPr>
        <p:blipFill>
          <a:blip r:embed="rId4"/>
          <a:stretch>
            <a:fillRect/>
          </a:stretch>
        </p:blipFill>
        <p:spPr>
          <a:xfrm>
            <a:off x="6631686" y="2013966"/>
            <a:ext cx="315468" cy="315468"/>
          </a:xfrm>
          <a:prstGeom prst="rect">
            <a:avLst/>
          </a:prstGeom>
        </p:spPr>
      </p:pic>
      <p:sp>
        <p:nvSpPr>
          <p:cNvPr id="9" name="Text 5"/>
          <p:cNvSpPr txBox="1"/>
          <p:nvPr/>
        </p:nvSpPr>
        <p:spPr>
          <a:xfrm>
            <a:off x="7360920" y="1691640"/>
            <a:ext cx="4114800" cy="411480"/>
          </a:xfrm>
          <a:prstGeom prst="rect">
            <a:avLst/>
          </a:prstGeom>
          <a:noFill/>
          <a:ln/>
        </p:spPr>
        <p:txBody>
          <a:bodyPr wrap="square" lIns="0" tIns="0" rIns="0" bIns="0" rtlCol="0" anchor="ctr"/>
          <a:lstStyle/>
          <a:p>
            <a:pPr marL="0" indent="0">
              <a:buNone/>
            </a:pPr>
            <a:r>
              <a:rPr lang="en-US" sz="1700" b="1" dirty="0">
                <a:solidFill>
                  <a:schemeClr val="tx2"/>
                </a:solidFill>
              </a:rPr>
              <a:t>Baldwin Bikes: 68% of revenue</a:t>
            </a:r>
            <a:endParaRPr lang="en-US" sz="1700" dirty="0"/>
          </a:p>
        </p:txBody>
      </p:sp>
      <p:sp>
        <p:nvSpPr>
          <p:cNvPr id="10" name="Text 6"/>
          <p:cNvSpPr txBox="1"/>
          <p:nvPr/>
        </p:nvSpPr>
        <p:spPr>
          <a:xfrm>
            <a:off x="7360920" y="2148840"/>
            <a:ext cx="4114800" cy="548640"/>
          </a:xfrm>
          <a:prstGeom prst="rect">
            <a:avLst/>
          </a:prstGeom>
          <a:noFill/>
          <a:ln/>
        </p:spPr>
        <p:txBody>
          <a:bodyPr wrap="square" lIns="0" tIns="0" rIns="0" bIns="0" rtlCol="0" anchor="t"/>
          <a:lstStyle/>
          <a:p>
            <a:pPr marL="0" indent="0">
              <a:buNone/>
            </a:pPr>
            <a:r>
              <a:rPr lang="en-US" sz="1400" dirty="0">
                <a:solidFill>
                  <a:schemeClr val="tx1"/>
                </a:solidFill>
              </a:rPr>
              <a:t>Replicate its playbook at Santa Cruz and Rowlett</a:t>
            </a:r>
            <a:endParaRPr lang="en-US" sz="1400" dirty="0"/>
          </a:p>
        </p:txBody>
      </p:sp>
      <p:sp>
        <p:nvSpPr>
          <p:cNvPr id="11" name="Insight card 2"/>
          <p:cNvSpPr/>
          <p:nvPr/>
        </p:nvSpPr>
        <p:spPr>
          <a:xfrm>
            <a:off x="6217920" y="3063240"/>
            <a:ext cx="5394960" cy="1417320"/>
          </a:xfrm>
          <a:prstGeom prst="roundRect">
            <a:avLst>
              <a:gd name="adj" fmla="val 7742"/>
            </a:avLst>
          </a:prstGeom>
          <a:solidFill>
            <a:schemeClr val="bg2"/>
          </a:solidFill>
          <a:ln w="12700">
            <a:solidFill>
              <a:schemeClr val="bg2"/>
            </a:solidFill>
            <a:prstDash val="solid"/>
          </a:ln>
        </p:spPr>
      </p:sp>
      <p:sp>
        <p:nvSpPr>
          <p:cNvPr id="12" name="Insight 2 circle"/>
          <p:cNvSpPr/>
          <p:nvPr/>
        </p:nvSpPr>
        <p:spPr>
          <a:xfrm>
            <a:off x="6446520" y="3429000"/>
            <a:ext cx="685800" cy="685800"/>
          </a:xfrm>
          <a:prstGeom prst="ellipse">
            <a:avLst/>
          </a:prstGeom>
          <a:solidFill>
            <a:srgbClr val="1F7A8C"/>
          </a:solidFill>
          <a:ln w="12700">
            <a:solidFill>
              <a:srgbClr val="1F7A8C"/>
            </a:solidFill>
            <a:prstDash val="solid"/>
          </a:ln>
        </p:spPr>
      </p:sp>
      <p:pic>
        <p:nvPicPr>
          <p:cNvPr id="13" name="Insight 2 icon" descr="Insight 2"/>
          <p:cNvPicPr>
            <a:picLocks noChangeAspect="1"/>
          </p:cNvPicPr>
          <p:nvPr/>
        </p:nvPicPr>
        <p:blipFill>
          <a:blip r:embed="rId5"/>
          <a:stretch>
            <a:fillRect/>
          </a:stretch>
        </p:blipFill>
        <p:spPr>
          <a:xfrm>
            <a:off x="6631686" y="3614166"/>
            <a:ext cx="315468" cy="315468"/>
          </a:xfrm>
          <a:prstGeom prst="rect">
            <a:avLst/>
          </a:prstGeom>
        </p:spPr>
      </p:pic>
      <p:sp>
        <p:nvSpPr>
          <p:cNvPr id="14" name="Text 9"/>
          <p:cNvSpPr txBox="1"/>
          <p:nvPr/>
        </p:nvSpPr>
        <p:spPr>
          <a:xfrm>
            <a:off x="7360920" y="3291840"/>
            <a:ext cx="4114800" cy="411480"/>
          </a:xfrm>
          <a:prstGeom prst="rect">
            <a:avLst/>
          </a:prstGeom>
          <a:noFill/>
          <a:ln/>
        </p:spPr>
        <p:txBody>
          <a:bodyPr wrap="square" lIns="0" tIns="0" rIns="0" bIns="0" rtlCol="0" anchor="ctr"/>
          <a:lstStyle/>
          <a:p>
            <a:pPr marL="0" indent="0">
              <a:buNone/>
            </a:pPr>
            <a:r>
              <a:rPr lang="en-US" sz="1700" b="1" dirty="0">
                <a:solidFill>
                  <a:schemeClr val="tx2"/>
                </a:solidFill>
              </a:rPr>
              <a:t>Mountain + Road bikes: 57% of sales</a:t>
            </a:r>
            <a:endParaRPr lang="en-US" sz="1700" dirty="0"/>
          </a:p>
        </p:txBody>
      </p:sp>
      <p:sp>
        <p:nvSpPr>
          <p:cNvPr id="15" name="Text 10"/>
          <p:cNvSpPr txBox="1"/>
          <p:nvPr/>
        </p:nvSpPr>
        <p:spPr>
          <a:xfrm>
            <a:off x="7360920" y="3749040"/>
            <a:ext cx="4114800" cy="548640"/>
          </a:xfrm>
          <a:prstGeom prst="rect">
            <a:avLst/>
          </a:prstGeom>
          <a:noFill/>
          <a:ln/>
        </p:spPr>
        <p:txBody>
          <a:bodyPr wrap="square" lIns="0" tIns="0" rIns="0" bIns="0" rtlCol="0" anchor="t"/>
          <a:lstStyle/>
          <a:p>
            <a:pPr marL="0" indent="0">
              <a:buNone/>
            </a:pPr>
            <a:r>
              <a:rPr lang="en-US" sz="1400" dirty="0">
                <a:solidFill>
                  <a:schemeClr val="tx1"/>
                </a:solidFill>
              </a:rPr>
              <a:t>Prioritise these categories when restocking</a:t>
            </a:r>
            <a:endParaRPr lang="en-US" sz="1400" dirty="0"/>
          </a:p>
        </p:txBody>
      </p:sp>
      <p:sp>
        <p:nvSpPr>
          <p:cNvPr id="16" name="Insight card 3"/>
          <p:cNvSpPr/>
          <p:nvPr/>
        </p:nvSpPr>
        <p:spPr>
          <a:xfrm>
            <a:off x="6217920" y="4663440"/>
            <a:ext cx="5394960" cy="1417320"/>
          </a:xfrm>
          <a:prstGeom prst="roundRect">
            <a:avLst>
              <a:gd name="adj" fmla="val 7742"/>
            </a:avLst>
          </a:prstGeom>
          <a:solidFill>
            <a:schemeClr val="bg2"/>
          </a:solidFill>
          <a:ln w="12700">
            <a:solidFill>
              <a:schemeClr val="bg2"/>
            </a:solidFill>
            <a:prstDash val="solid"/>
          </a:ln>
        </p:spPr>
      </p:sp>
      <p:sp>
        <p:nvSpPr>
          <p:cNvPr id="17" name="Insight 3 circle"/>
          <p:cNvSpPr/>
          <p:nvPr/>
        </p:nvSpPr>
        <p:spPr>
          <a:xfrm>
            <a:off x="6446520" y="5029200"/>
            <a:ext cx="685800" cy="685800"/>
          </a:xfrm>
          <a:prstGeom prst="ellipse">
            <a:avLst/>
          </a:prstGeom>
          <a:solidFill>
            <a:srgbClr val="2E9E6B"/>
          </a:solidFill>
          <a:ln w="12700">
            <a:solidFill>
              <a:srgbClr val="2E9E6B"/>
            </a:solidFill>
            <a:prstDash val="solid"/>
          </a:ln>
        </p:spPr>
      </p:sp>
      <p:pic>
        <p:nvPicPr>
          <p:cNvPr id="18" name="Insight 3 icon" descr="Insight 3"/>
          <p:cNvPicPr>
            <a:picLocks noChangeAspect="1"/>
          </p:cNvPicPr>
          <p:nvPr/>
        </p:nvPicPr>
        <p:blipFill>
          <a:blip r:embed="rId6"/>
          <a:stretch>
            <a:fillRect/>
          </a:stretch>
        </p:blipFill>
        <p:spPr>
          <a:xfrm>
            <a:off x="6631686" y="5214366"/>
            <a:ext cx="315468" cy="315468"/>
          </a:xfrm>
          <a:prstGeom prst="rect">
            <a:avLst/>
          </a:prstGeom>
        </p:spPr>
      </p:pic>
      <p:sp>
        <p:nvSpPr>
          <p:cNvPr id="19" name="Text 13"/>
          <p:cNvSpPr txBox="1"/>
          <p:nvPr/>
        </p:nvSpPr>
        <p:spPr>
          <a:xfrm>
            <a:off x="7360920" y="4892040"/>
            <a:ext cx="4114800" cy="411480"/>
          </a:xfrm>
          <a:prstGeom prst="rect">
            <a:avLst/>
          </a:prstGeom>
          <a:noFill/>
          <a:ln/>
        </p:spPr>
        <p:txBody>
          <a:bodyPr wrap="square" lIns="0" tIns="0" rIns="0" bIns="0" rtlCol="0" anchor="ctr"/>
          <a:lstStyle/>
          <a:p>
            <a:pPr marL="0" indent="0">
              <a:buNone/>
            </a:pPr>
            <a:r>
              <a:rPr lang="en-US" sz="1700" b="1" dirty="0">
                <a:solidFill>
                  <a:schemeClr val="tx2"/>
                </a:solidFill>
              </a:rPr>
              <a:t>34% of stock records below 10 units</a:t>
            </a:r>
            <a:endParaRPr lang="en-US" sz="1700" dirty="0"/>
          </a:p>
        </p:txBody>
      </p:sp>
      <p:sp>
        <p:nvSpPr>
          <p:cNvPr id="20" name="Text 14"/>
          <p:cNvSpPr txBox="1"/>
          <p:nvPr/>
        </p:nvSpPr>
        <p:spPr>
          <a:xfrm>
            <a:off x="7360920" y="5349240"/>
            <a:ext cx="4114800" cy="548640"/>
          </a:xfrm>
          <a:prstGeom prst="rect">
            <a:avLst/>
          </a:prstGeom>
          <a:noFill/>
          <a:ln/>
        </p:spPr>
        <p:txBody>
          <a:bodyPr wrap="square" lIns="0" tIns="0" rIns="0" bIns="0" rtlCol="0" anchor="t"/>
          <a:lstStyle/>
          <a:p>
            <a:pPr marL="0" indent="0">
              <a:buNone/>
            </a:pPr>
            <a:r>
              <a:rPr lang="en-US" sz="1400" dirty="0">
                <a:solidFill>
                  <a:schemeClr val="tx1"/>
                </a:solidFill>
              </a:rPr>
              <a:t>Automate restock alerts with the SQL stock query</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132320" cy="1554480"/>
          </a:xfrm>
          <a:prstGeom prst="rect">
            <a:avLst/>
          </a:prstGeom>
          <a:noFill/>
          <a:ln/>
        </p:spPr>
        <p:txBody>
          <a:bodyPr wrap="square" lIns="0" tIns="0" rIns="0" bIns="0" rtlCol="0" anchor="b"/>
          <a:lstStyle/>
          <a:p>
            <a:pPr marL="0" indent="0" algn="l">
              <a:buNone/>
            </a:pPr>
            <a:r>
              <a:rPr lang="en-US" sz="5000" b="1" dirty="0">
                <a:solidFill>
                  <a:schemeClr val="bg1"/>
                </a:solidFill>
              </a:rPr>
              <a:t>Thank You</a:t>
            </a:r>
            <a:endParaRPr lang="en-US" sz="5000" dirty="0"/>
          </a:p>
        </p:txBody>
      </p:sp>
      <p:sp>
        <p:nvSpPr>
          <p:cNvPr id="3" name="Text 0"/>
          <p:cNvSpPr>
            <a:spLocks noGrp="1"/>
          </p:cNvSpPr>
          <p:nvPr>
            <p:ph type="body" idx="101" hasCustomPrompt="1"/>
          </p:nvPr>
        </p:nvSpPr>
        <p:spPr>
          <a:xfrm>
            <a:off x="731520" y="3520440"/>
            <a:ext cx="7132320" cy="731520"/>
          </a:xfrm>
          <a:prstGeom prst="rect">
            <a:avLst/>
          </a:prstGeom>
          <a:noFill/>
          <a:ln/>
        </p:spPr>
        <p:txBody>
          <a:bodyPr wrap="square" lIns="0" tIns="0" rIns="0" bIns="0" rtlCol="0" anchor="t"/>
          <a:lstStyle/>
          <a:p>
            <a:pPr marL="0" indent="0" algn="l">
              <a:buNone/>
            </a:pPr>
            <a:endParaRPr lang="en-US" sz="2200" dirty="0"/>
          </a:p>
        </p:txBody>
      </p:sp>
      <p:sp>
        <p:nvSpPr>
          <p:cNvPr id="4" name="Text 2"/>
          <p:cNvSpPr txBox="1"/>
          <p:nvPr/>
        </p:nvSpPr>
        <p:spPr>
          <a:xfrm>
            <a:off x="731520" y="5029200"/>
            <a:ext cx="237744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PRESENTER</a:t>
            </a:r>
            <a:endParaRPr lang="en-US" sz="1200" dirty="0"/>
          </a:p>
        </p:txBody>
      </p:sp>
      <p:sp>
        <p:nvSpPr>
          <p:cNvPr id="5" name="Text 3"/>
          <p:cNvSpPr txBox="1"/>
          <p:nvPr/>
        </p:nvSpPr>
        <p:spPr>
          <a:xfrm>
            <a:off x="731520" y="5349240"/>
            <a:ext cx="2377440" cy="411480"/>
          </a:xfrm>
          <a:prstGeom prst="rect">
            <a:avLst/>
          </a:prstGeom>
          <a:noFill/>
          <a:ln/>
        </p:spPr>
        <p:txBody>
          <a:bodyPr wrap="square" lIns="0" tIns="0" rIns="0" bIns="0" rtlCol="0" anchor="ctr"/>
          <a:lstStyle/>
          <a:p>
            <a:pPr marL="0" indent="0">
              <a:buNone/>
            </a:pPr>
            <a:r>
              <a:rPr lang="en-US" sz="1800" b="1" dirty="0">
                <a:solidFill>
                  <a:schemeClr val="bg1"/>
                </a:solidFill>
              </a:rPr>
              <a:t>Vishnu Prasad</a:t>
            </a:r>
            <a:endParaRPr lang="en-US" sz="1800" dirty="0"/>
          </a:p>
        </p:txBody>
      </p:sp>
      <p:sp>
        <p:nvSpPr>
          <p:cNvPr id="6" name="Text 4"/>
          <p:cNvSpPr txBox="1"/>
          <p:nvPr/>
        </p:nvSpPr>
        <p:spPr>
          <a:xfrm>
            <a:off x="3246120" y="5029200"/>
            <a:ext cx="237744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MENTOR</a:t>
            </a:r>
            <a:endParaRPr lang="en-US" sz="1200" dirty="0"/>
          </a:p>
        </p:txBody>
      </p:sp>
      <p:sp>
        <p:nvSpPr>
          <p:cNvPr id="7" name="Text 5"/>
          <p:cNvSpPr txBox="1"/>
          <p:nvPr/>
        </p:nvSpPr>
        <p:spPr>
          <a:xfrm>
            <a:off x="3246120" y="5349240"/>
            <a:ext cx="2377440" cy="411480"/>
          </a:xfrm>
          <a:prstGeom prst="rect">
            <a:avLst/>
          </a:prstGeom>
          <a:noFill/>
          <a:ln/>
        </p:spPr>
        <p:txBody>
          <a:bodyPr wrap="square" lIns="0" tIns="0" rIns="0" bIns="0" rtlCol="0" anchor="ctr"/>
          <a:lstStyle/>
          <a:p>
            <a:pPr marL="0" indent="0">
              <a:buNone/>
            </a:pPr>
            <a:r>
              <a:rPr lang="en-US" sz="1800" b="1" dirty="0">
                <a:solidFill>
                  <a:schemeClr val="bg1"/>
                </a:solidFill>
              </a:rPr>
              <a:t>Varththini V</a:t>
            </a:r>
            <a:endParaRPr lang="en-US" sz="1800" dirty="0"/>
          </a:p>
        </p:txBody>
      </p:sp>
      <p:sp>
        <p:nvSpPr>
          <p:cNvPr id="8" name="Text 6"/>
          <p:cNvSpPr txBox="1"/>
          <p:nvPr/>
        </p:nvSpPr>
        <p:spPr>
          <a:xfrm>
            <a:off x="5760720" y="5029200"/>
            <a:ext cx="237744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ACADEMY</a:t>
            </a:r>
            <a:endParaRPr lang="en-US" sz="1200" dirty="0"/>
          </a:p>
        </p:txBody>
      </p:sp>
      <p:sp>
        <p:nvSpPr>
          <p:cNvPr id="9" name="Text 7"/>
          <p:cNvSpPr txBox="1"/>
          <p:nvPr/>
        </p:nvSpPr>
        <p:spPr>
          <a:xfrm>
            <a:off x="5760720" y="5349240"/>
            <a:ext cx="2377440" cy="411480"/>
          </a:xfrm>
          <a:prstGeom prst="rect">
            <a:avLst/>
          </a:prstGeom>
          <a:noFill/>
          <a:ln/>
        </p:spPr>
        <p:txBody>
          <a:bodyPr wrap="square" lIns="0" tIns="0" rIns="0" bIns="0" rtlCol="0" anchor="ctr"/>
          <a:lstStyle/>
          <a:p>
            <a:pPr marL="0" indent="0">
              <a:buNone/>
            </a:pPr>
            <a:r>
              <a:rPr lang="en-US" sz="1800" b="1" dirty="0">
                <a:solidFill>
                  <a:schemeClr val="bg1"/>
                </a:solidFill>
              </a:rPr>
              <a:t>Vinsup Skill Academy</a:t>
            </a:r>
            <a:endParaRPr lang="en-US" sz="1800" dirty="0"/>
          </a:p>
        </p:txBody>
      </p:sp>
      <p:sp>
        <p:nvSpPr>
          <p:cNvPr id="10" name="Excel circle"/>
          <p:cNvSpPr/>
          <p:nvPr/>
        </p:nvSpPr>
        <p:spPr>
          <a:xfrm>
            <a:off x="8503920" y="1737360"/>
            <a:ext cx="1371600" cy="1371600"/>
          </a:xfrm>
          <a:prstGeom prst="ellipse">
            <a:avLst/>
          </a:prstGeom>
          <a:solidFill>
            <a:srgbClr val="2E9E6B"/>
          </a:solidFill>
          <a:ln w="12700">
            <a:solidFill>
              <a:srgbClr val="2E9E6B"/>
            </a:solidFill>
            <a:prstDash val="solid"/>
          </a:ln>
        </p:spPr>
      </p:sp>
      <p:pic>
        <p:nvPicPr>
          <p:cNvPr id="11" name="Excel icon" descr="Excel"/>
          <p:cNvPicPr>
            <a:picLocks noChangeAspect="1"/>
          </p:cNvPicPr>
          <p:nvPr/>
        </p:nvPicPr>
        <p:blipFill>
          <a:blip r:embed="rId3"/>
          <a:stretch>
            <a:fillRect/>
          </a:stretch>
        </p:blipFill>
        <p:spPr>
          <a:xfrm>
            <a:off x="8874252" y="2107692"/>
            <a:ext cx="630936" cy="630936"/>
          </a:xfrm>
          <a:prstGeom prst="rect">
            <a:avLst/>
          </a:prstGeom>
        </p:spPr>
      </p:pic>
      <p:sp>
        <p:nvSpPr>
          <p:cNvPr id="12" name="Text 9"/>
          <p:cNvSpPr txBox="1"/>
          <p:nvPr/>
        </p:nvSpPr>
        <p:spPr>
          <a:xfrm>
            <a:off x="8321040" y="3200400"/>
            <a:ext cx="1737360" cy="320040"/>
          </a:xfrm>
          <a:prstGeom prst="rect">
            <a:avLst/>
          </a:prstGeom>
          <a:noFill/>
          <a:ln/>
        </p:spPr>
        <p:txBody>
          <a:bodyPr wrap="square" lIns="0" tIns="0" rIns="0" bIns="0" rtlCol="0" anchor="ctr"/>
          <a:lstStyle/>
          <a:p>
            <a:pPr marL="0" indent="0" algn="ctr">
              <a:buNone/>
            </a:pPr>
            <a:r>
              <a:rPr lang="en-US" sz="1400" dirty="0">
                <a:solidFill>
                  <a:schemeClr val="bg1"/>
                </a:solidFill>
              </a:rPr>
              <a:t>Excel</a:t>
            </a:r>
            <a:endParaRPr lang="en-US" sz="1400" dirty="0"/>
          </a:p>
        </p:txBody>
      </p:sp>
      <p:sp>
        <p:nvSpPr>
          <p:cNvPr id="13" name="SQL circle"/>
          <p:cNvSpPr/>
          <p:nvPr/>
        </p:nvSpPr>
        <p:spPr>
          <a:xfrm>
            <a:off x="10424160" y="1737360"/>
            <a:ext cx="1371600" cy="1371600"/>
          </a:xfrm>
          <a:prstGeom prst="ellipse">
            <a:avLst/>
          </a:prstGeom>
          <a:solidFill>
            <a:srgbClr val="1F7A8C"/>
          </a:solidFill>
          <a:ln w="12700">
            <a:solidFill>
              <a:srgbClr val="1F7A8C"/>
            </a:solidFill>
            <a:prstDash val="solid"/>
          </a:ln>
        </p:spPr>
      </p:sp>
      <p:pic>
        <p:nvPicPr>
          <p:cNvPr id="14" name="SQL icon" descr="SQL"/>
          <p:cNvPicPr>
            <a:picLocks noChangeAspect="1"/>
          </p:cNvPicPr>
          <p:nvPr/>
        </p:nvPicPr>
        <p:blipFill>
          <a:blip r:embed="rId4"/>
          <a:stretch>
            <a:fillRect/>
          </a:stretch>
        </p:blipFill>
        <p:spPr>
          <a:xfrm>
            <a:off x="10794492" y="2107692"/>
            <a:ext cx="630936" cy="630936"/>
          </a:xfrm>
          <a:prstGeom prst="rect">
            <a:avLst/>
          </a:prstGeom>
        </p:spPr>
      </p:pic>
      <p:sp>
        <p:nvSpPr>
          <p:cNvPr id="15" name="Text 11"/>
          <p:cNvSpPr txBox="1"/>
          <p:nvPr/>
        </p:nvSpPr>
        <p:spPr>
          <a:xfrm>
            <a:off x="10241280" y="3200400"/>
            <a:ext cx="1737360" cy="320040"/>
          </a:xfrm>
          <a:prstGeom prst="rect">
            <a:avLst/>
          </a:prstGeom>
          <a:noFill/>
          <a:ln/>
        </p:spPr>
        <p:txBody>
          <a:bodyPr wrap="square" lIns="0" tIns="0" rIns="0" bIns="0" rtlCol="0" anchor="ctr"/>
          <a:lstStyle/>
          <a:p>
            <a:pPr marL="0" indent="0" algn="ctr">
              <a:buNone/>
            </a:pPr>
            <a:r>
              <a:rPr lang="en-US" sz="1400" dirty="0">
                <a:solidFill>
                  <a:schemeClr val="bg1"/>
                </a:solidFill>
              </a:rPr>
              <a:t>SQL</a:t>
            </a:r>
            <a:endParaRPr lang="en-US" sz="1400" dirty="0"/>
          </a:p>
        </p:txBody>
      </p:sp>
      <p:sp>
        <p:nvSpPr>
          <p:cNvPr id="16" name="Python circle"/>
          <p:cNvSpPr/>
          <p:nvPr/>
        </p:nvSpPr>
        <p:spPr>
          <a:xfrm>
            <a:off x="8503920" y="3840480"/>
            <a:ext cx="1371600" cy="1371600"/>
          </a:xfrm>
          <a:prstGeom prst="ellipse">
            <a:avLst/>
          </a:prstGeom>
          <a:solidFill>
            <a:srgbClr val="F2B134"/>
          </a:solidFill>
          <a:ln w="12700">
            <a:solidFill>
              <a:srgbClr val="F2B134"/>
            </a:solidFill>
            <a:prstDash val="solid"/>
          </a:ln>
        </p:spPr>
      </p:sp>
      <p:pic>
        <p:nvPicPr>
          <p:cNvPr id="17" name="Python icon" descr="Python"/>
          <p:cNvPicPr>
            <a:picLocks noChangeAspect="1"/>
          </p:cNvPicPr>
          <p:nvPr/>
        </p:nvPicPr>
        <p:blipFill>
          <a:blip r:embed="rId5"/>
          <a:stretch>
            <a:fillRect/>
          </a:stretch>
        </p:blipFill>
        <p:spPr>
          <a:xfrm>
            <a:off x="8874252" y="4210812"/>
            <a:ext cx="630936" cy="630936"/>
          </a:xfrm>
          <a:prstGeom prst="rect">
            <a:avLst/>
          </a:prstGeom>
        </p:spPr>
      </p:pic>
      <p:sp>
        <p:nvSpPr>
          <p:cNvPr id="18" name="Text 13"/>
          <p:cNvSpPr txBox="1"/>
          <p:nvPr/>
        </p:nvSpPr>
        <p:spPr>
          <a:xfrm>
            <a:off x="8321040" y="5303520"/>
            <a:ext cx="1737360" cy="320040"/>
          </a:xfrm>
          <a:prstGeom prst="rect">
            <a:avLst/>
          </a:prstGeom>
          <a:noFill/>
          <a:ln/>
        </p:spPr>
        <p:txBody>
          <a:bodyPr wrap="square" lIns="0" tIns="0" rIns="0" bIns="0" rtlCol="0" anchor="ctr"/>
          <a:lstStyle/>
          <a:p>
            <a:pPr marL="0" indent="0" algn="ctr">
              <a:buNone/>
            </a:pPr>
            <a:r>
              <a:rPr lang="en-US" sz="1400" dirty="0">
                <a:solidFill>
                  <a:schemeClr val="bg1"/>
                </a:solidFill>
              </a:rPr>
              <a:t>Python</a:t>
            </a:r>
            <a:endParaRPr lang="en-US" sz="1400" dirty="0"/>
          </a:p>
        </p:txBody>
      </p:sp>
      <p:sp>
        <p:nvSpPr>
          <p:cNvPr id="19" name="Power BI circle"/>
          <p:cNvSpPr/>
          <p:nvPr/>
        </p:nvSpPr>
        <p:spPr>
          <a:xfrm>
            <a:off x="10424160" y="3840480"/>
            <a:ext cx="1371600" cy="1371600"/>
          </a:xfrm>
          <a:prstGeom prst="ellipse">
            <a:avLst/>
          </a:prstGeom>
          <a:solidFill>
            <a:srgbClr val="F26B21"/>
          </a:solidFill>
          <a:ln w="12700">
            <a:solidFill>
              <a:srgbClr val="F26B21"/>
            </a:solidFill>
            <a:prstDash val="solid"/>
          </a:ln>
        </p:spPr>
      </p:sp>
      <p:pic>
        <p:nvPicPr>
          <p:cNvPr id="20" name="Power BI icon" descr="Power BI"/>
          <p:cNvPicPr>
            <a:picLocks noChangeAspect="1"/>
          </p:cNvPicPr>
          <p:nvPr/>
        </p:nvPicPr>
        <p:blipFill>
          <a:blip r:embed="rId6"/>
          <a:stretch>
            <a:fillRect/>
          </a:stretch>
        </p:blipFill>
        <p:spPr>
          <a:xfrm>
            <a:off x="10794492" y="4210812"/>
            <a:ext cx="630936" cy="630936"/>
          </a:xfrm>
          <a:prstGeom prst="rect">
            <a:avLst/>
          </a:prstGeom>
        </p:spPr>
      </p:pic>
      <p:sp>
        <p:nvSpPr>
          <p:cNvPr id="21" name="Text 15"/>
          <p:cNvSpPr txBox="1"/>
          <p:nvPr/>
        </p:nvSpPr>
        <p:spPr>
          <a:xfrm>
            <a:off x="10241280" y="5303520"/>
            <a:ext cx="1737360" cy="320040"/>
          </a:xfrm>
          <a:prstGeom prst="rect">
            <a:avLst/>
          </a:prstGeom>
          <a:noFill/>
          <a:ln/>
        </p:spPr>
        <p:txBody>
          <a:bodyPr wrap="square" lIns="0" tIns="0" rIns="0" bIns="0" rtlCol="0" anchor="ctr"/>
          <a:lstStyle/>
          <a:p>
            <a:pPr marL="0" indent="0" algn="ctr">
              <a:buNone/>
            </a:pPr>
            <a:r>
              <a:rPr lang="en-US" sz="1400" dirty="0">
                <a:solidFill>
                  <a:schemeClr val="bg1"/>
                </a:solidFill>
              </a:rPr>
              <a:t>Power BI</a:t>
            </a:r>
            <a:endParaRPr lang="en-US" sz="1400" dirty="0"/>
          </a:p>
        </p:txBody>
      </p:sp>
    </p:spTree>
  </p:cSld>
  <p:clrMapOvr>
    <a:masterClrMapping/>
  </p:clrMapOvr>
</p:sld>
</file>

<file path=ppt/theme/theme1.xml><?xml version="1.0" encoding="utf-8"?>
<a:theme xmlns:a="http://schemas.openxmlformats.org/drawingml/2006/main" name="Retail Analytics">
  <a:themeElements>
    <a:clrScheme name="Retail Analytics">
      <a:dk1>
        <a:srgbClr val="17252A"/>
      </a:dk1>
      <a:lt1>
        <a:srgbClr val="FFFFFF"/>
      </a:lt1>
      <a:dk2>
        <a:srgbClr val="0B3C49"/>
      </a:dk2>
      <a:lt2>
        <a:srgbClr val="EEF3F5"/>
      </a:lt2>
      <a:accent1>
        <a:srgbClr val="F26B21"/>
      </a:accent1>
      <a:accent2>
        <a:srgbClr val="1F7A8C"/>
      </a:accent2>
      <a:accent3>
        <a:srgbClr val="5FB3C2"/>
      </a:accent3>
      <a:accent4>
        <a:srgbClr val="F2B134"/>
      </a:accent4>
      <a:accent5>
        <a:srgbClr val="6C7A89"/>
      </a:accent5>
      <a:accent6>
        <a:srgbClr val="2E9E6B"/>
      </a:accent6>
      <a:hlink>
        <a:srgbClr val="1F7A8C"/>
      </a:hlink>
      <a:folHlink>
        <a:srgbClr val="6C7A89"/>
      </a:folHlink>
    </a:clrScheme>
    <a:fontScheme name="Retail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1345</Words>
  <Application>Microsoft Office PowerPoint</Application>
  <PresentationFormat>Widescreen</PresentationFormat>
  <Paragraphs>171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Retail Analytics</vt:lpstr>
      <vt:lpstr>Retail Sales Analytics</vt:lpstr>
      <vt:lpstr>About Me</vt:lpstr>
      <vt:lpstr>Project Overview</vt:lpstr>
      <vt:lpstr>4-Phase Workflow</vt:lpstr>
      <vt:lpstr>Phase 1 · Excel Data Cleaning</vt:lpstr>
      <vt:lpstr>Phase 2 · SQL Analysis</vt:lpstr>
      <vt:lpstr>Phase 3 · Python RFM Segmentation</vt:lpstr>
      <vt:lpstr>Phase 4 · Power BI Dashboard</vt:lpstr>
      <vt:lpstr>Key Insights &amp; Recommendations</vt:lpstr>
      <vt:lpstr>Thank You</vt:lpstr>
    </vt:vector>
  </TitlesOfParts>
  <Company>Vinsup Skill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Sales Analytics - Final Project</dc:title>
  <dc:subject>PptxGenJS Presentation</dc:subject>
  <dc:creator>Vishnu Prasad</dc:creator>
  <cp:lastModifiedBy>Vishnu Prasad</cp:lastModifiedBy>
  <cp:revision>3</cp:revision>
  <dcterms:created xsi:type="dcterms:W3CDTF">2026-10-10T12:32:54Z</dcterms:created>
  <dcterms:modified xsi:type="dcterms:W3CDTF">2026-10-10T12:36:33Z</dcterms:modified>
</cp:coreProperties>
</file>